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9" r:id="rId5"/>
    <p:sldId id="260" r:id="rId6"/>
    <p:sldId id="263" r:id="rId7"/>
    <p:sldId id="267" r:id="rId8"/>
    <p:sldId id="268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Roboto Slab" pitchFamily="2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juYswpgXp+TZvo6Ya6rcTbClTK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2A2B5655-C217-6F65-3D2F-ED07775C3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E063FEC8-0566-CA45-D71C-7FBB2C1FE0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E6B69864-2CAD-1EEC-7D70-1BC0B725D9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34728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7" name="Google Shape;17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2" name="Google Shape;26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>
          <a:extLst>
            <a:ext uri="{FF2B5EF4-FFF2-40B4-BE49-F238E27FC236}">
              <a16:creationId xmlns:a16="http://schemas.microsoft.com/office/drawing/2014/main" id="{20AE88D1-95DD-CBE6-CD11-0CE5D0B29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>
            <a:extLst>
              <a:ext uri="{FF2B5EF4-FFF2-40B4-BE49-F238E27FC236}">
                <a16:creationId xmlns:a16="http://schemas.microsoft.com/office/drawing/2014/main" id="{03964CBD-3B74-2ECA-180B-A7BCCCFE22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2" name="Google Shape;262;p22:notes">
            <a:extLst>
              <a:ext uri="{FF2B5EF4-FFF2-40B4-BE49-F238E27FC236}">
                <a16:creationId xmlns:a16="http://schemas.microsoft.com/office/drawing/2014/main" id="{D6DB1B13-379F-543D-F5B9-8C04B2930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75442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6" name="Google Shape;18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3" name="Google Shape;21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6" name="Google Shape;23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64" name="Google Shape;64;p3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6595" b="-16595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85" name="Google Shape;85;p1"/>
          <p:cNvSpPr/>
          <p:nvPr/>
        </p:nvSpPr>
        <p:spPr>
          <a:xfrm rot="12582">
            <a:off x="2909110" y="4795948"/>
            <a:ext cx="11729942" cy="19050"/>
          </a:xfrm>
          <a:custGeom>
            <a:avLst/>
            <a:gdLst/>
            <a:ahLst/>
            <a:cxnLst/>
            <a:rect l="l" t="t" r="r" b="b"/>
            <a:pathLst>
              <a:path w="15639923" h="25400" extrusionOk="0">
                <a:moveTo>
                  <a:pt x="12700" y="0"/>
                </a:moveTo>
                <a:lnTo>
                  <a:pt x="15627223" y="0"/>
                </a:lnTo>
                <a:cubicBezTo>
                  <a:pt x="15634208" y="0"/>
                  <a:pt x="15639923" y="5715"/>
                  <a:pt x="15639923" y="12700"/>
                </a:cubicBezTo>
                <a:cubicBezTo>
                  <a:pt x="15639923" y="19685"/>
                  <a:pt x="15634208" y="25400"/>
                  <a:pt x="15627223" y="25400"/>
                </a:cubicBezTo>
                <a:lnTo>
                  <a:pt x="12700" y="25400"/>
                </a:lnTo>
                <a:cubicBezTo>
                  <a:pt x="5715" y="25400"/>
                  <a:pt x="0" y="19685"/>
                  <a:pt x="0" y="12700"/>
                </a:cubicBezTo>
                <a:cubicBezTo>
                  <a:pt x="0" y="5715"/>
                  <a:pt x="5715" y="0"/>
                  <a:pt x="127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 rot="5417063">
            <a:off x="4600718" y="4187575"/>
            <a:ext cx="1928813" cy="9525"/>
          </a:xfrm>
          <a:custGeom>
            <a:avLst/>
            <a:gdLst/>
            <a:ahLst/>
            <a:cxnLst/>
            <a:rect l="l" t="t" r="r" b="b"/>
            <a:pathLst>
              <a:path w="2571750" h="12700" extrusionOk="0">
                <a:moveTo>
                  <a:pt x="6350" y="0"/>
                </a:moveTo>
                <a:lnTo>
                  <a:pt x="2565400" y="0"/>
                </a:lnTo>
                <a:cubicBezTo>
                  <a:pt x="2568956" y="0"/>
                  <a:pt x="2571750" y="2794"/>
                  <a:pt x="2571750" y="6350"/>
                </a:cubicBezTo>
                <a:cubicBezTo>
                  <a:pt x="2571750" y="9906"/>
                  <a:pt x="2568956" y="12700"/>
                  <a:pt x="2565400" y="12700"/>
                </a:cubicBezTo>
                <a:lnTo>
                  <a:pt x="6350" y="12700"/>
                </a:lnTo>
                <a:cubicBezTo>
                  <a:pt x="2794" y="12700"/>
                  <a:pt x="0" y="9906"/>
                  <a:pt x="0" y="6350"/>
                </a:cubicBezTo>
                <a:cubicBezTo>
                  <a:pt x="0" y="2794"/>
                  <a:pt x="2794" y="0"/>
                  <a:pt x="63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5719111" y="1396469"/>
            <a:ext cx="10184400" cy="3949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85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8"/>
              <a:buFont typeface="Arial"/>
              <a:buNone/>
            </a:pPr>
            <a:r>
              <a:rPr lang="en-US" sz="4278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4278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Grupo 24: Presentación técnica del </a:t>
            </a:r>
            <a:r>
              <a:rPr lang="en-US" sz="4278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 de stock y cilindros para </a:t>
            </a:r>
            <a:r>
              <a:rPr lang="en-US" sz="4278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empresa</a:t>
            </a:r>
            <a:r>
              <a:rPr lang="en-US" sz="4278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Valgas e Hijo SPA"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8"/>
              <a:buFont typeface="Arial"/>
              <a:buNone/>
            </a:pPr>
            <a:endParaRPr sz="4278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1858854" y="4852289"/>
            <a:ext cx="5912100" cy="38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5"/>
              <a:buFont typeface="Arial"/>
              <a:buNone/>
            </a:pPr>
            <a:r>
              <a:rPr lang="en-US" sz="2315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Integrantes</a:t>
            </a:r>
            <a:r>
              <a:rPr lang="en-US" sz="2315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5"/>
              <a:buFont typeface="Arial"/>
              <a:buNone/>
            </a:pPr>
            <a:endParaRPr sz="2315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5"/>
              <a:buFont typeface="Arial"/>
              <a:buNone/>
            </a:pPr>
            <a:r>
              <a:rPr lang="en-US" sz="2315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Anakin Adolfo Benavides Romero</a:t>
            </a:r>
            <a:endParaRPr sz="2315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5"/>
              <a:buFont typeface="Arial"/>
              <a:buNone/>
            </a:pPr>
            <a:r>
              <a:rPr lang="en-US" sz="2315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Tomas Andres Burgos Bottari</a:t>
            </a:r>
            <a:endParaRPr sz="2315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5"/>
              <a:buFont typeface="Arial"/>
              <a:buNone/>
            </a:pPr>
            <a:r>
              <a:rPr lang="en-US" sz="2315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Diego Alonso Herrera Molina</a:t>
            </a:r>
            <a:endParaRPr sz="2315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5"/>
              <a:buFont typeface="Arial"/>
              <a:buNone/>
            </a:pPr>
            <a:r>
              <a:rPr lang="en-US" sz="2315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Juan Pablo Olmedo Saavedra</a:t>
            </a:r>
            <a:endParaRPr sz="2315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5"/>
              <a:buFont typeface="Arial"/>
              <a:buNone/>
            </a:pPr>
            <a:r>
              <a:rPr lang="en-US" sz="2315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Sebastián Ignacio Valdovinos Bravo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5"/>
              <a:buFont typeface="Arial"/>
              <a:buNone/>
            </a:pPr>
            <a:r>
              <a:rPr lang="en-US" sz="2315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Cristóbal Alejandro Valenzuela Rojas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99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5"/>
              <a:buFont typeface="Arial"/>
              <a:buNone/>
            </a:pPr>
            <a:endParaRPr sz="2315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0" y="1"/>
            <a:ext cx="18288000" cy="2153507"/>
          </a:xfrm>
          <a:custGeom>
            <a:avLst/>
            <a:gdLst/>
            <a:ahLst/>
            <a:cxnLst/>
            <a:rect l="l" t="t" r="r" b="b"/>
            <a:pathLst>
              <a:path w="24384000" h="2871343" extrusionOk="0">
                <a:moveTo>
                  <a:pt x="0" y="0"/>
                </a:moveTo>
                <a:lnTo>
                  <a:pt x="24384000" y="0"/>
                </a:lnTo>
                <a:lnTo>
                  <a:pt x="24384000" y="2871343"/>
                </a:lnTo>
                <a:lnTo>
                  <a:pt x="0" y="28713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83625" b="-83617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0" name="Google Shape;90;p1"/>
          <p:cNvSpPr/>
          <p:nvPr/>
        </p:nvSpPr>
        <p:spPr>
          <a:xfrm>
            <a:off x="0" y="8336604"/>
            <a:ext cx="18288000" cy="1950399"/>
          </a:xfrm>
          <a:custGeom>
            <a:avLst/>
            <a:gdLst/>
            <a:ahLst/>
            <a:cxnLst/>
            <a:rect l="l" t="t" r="r" b="b"/>
            <a:pathLst>
              <a:path w="24384000" h="2742565" extrusionOk="0">
                <a:moveTo>
                  <a:pt x="0" y="0"/>
                </a:moveTo>
                <a:lnTo>
                  <a:pt x="24384000" y="0"/>
                </a:lnTo>
                <a:lnTo>
                  <a:pt x="24384000" y="2742565"/>
                </a:lnTo>
                <a:lnTo>
                  <a:pt x="0" y="2742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89893" b="-89896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1" name="Google Shape;91;p1"/>
          <p:cNvSpPr/>
          <p:nvPr/>
        </p:nvSpPr>
        <p:spPr>
          <a:xfrm>
            <a:off x="2769237" y="2194592"/>
            <a:ext cx="2690145" cy="2501931"/>
          </a:xfrm>
          <a:custGeom>
            <a:avLst/>
            <a:gdLst/>
            <a:ahLst/>
            <a:cxnLst/>
            <a:rect l="l" t="t" r="r" b="b"/>
            <a:pathLst>
              <a:path w="3586861" h="3335909" extrusionOk="0">
                <a:moveTo>
                  <a:pt x="0" y="0"/>
                </a:moveTo>
                <a:lnTo>
                  <a:pt x="3586861" y="0"/>
                </a:lnTo>
                <a:lnTo>
                  <a:pt x="3586861" y="3335909"/>
                </a:lnTo>
                <a:lnTo>
                  <a:pt x="0" y="33359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52" r="-51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2" name="Google Shape;92;p1"/>
          <p:cNvSpPr txBox="1"/>
          <p:nvPr/>
        </p:nvSpPr>
        <p:spPr>
          <a:xfrm>
            <a:off x="6466603" y="8830070"/>
            <a:ext cx="4344708" cy="369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r>
              <a:rPr lang="en-US" sz="1999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Santiago, </a:t>
            </a:r>
            <a:r>
              <a:rPr lang="en-US" sz="1999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20 de </a:t>
            </a:r>
            <a:r>
              <a:rPr lang="en-US" sz="1999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noviembre</a:t>
            </a:r>
            <a:r>
              <a:rPr lang="en-US" sz="1999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2025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690843" y="5333356"/>
            <a:ext cx="59121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Ingeniería Civil </a:t>
            </a:r>
            <a:r>
              <a:rPr lang="en-US" sz="21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Informática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Facultad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Ingeniería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690843" y="6349767"/>
            <a:ext cx="4034433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Profesor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Paulo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Quinsacara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Jofré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536E7ED1-1700-0115-C946-0D711A5B50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45" r="15532"/>
          <a:stretch>
            <a:fillRect/>
          </a:stretch>
        </p:blipFill>
        <p:spPr bwMode="auto">
          <a:xfrm>
            <a:off x="12444412" y="1217306"/>
            <a:ext cx="5843588" cy="9050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" name="Google Shape;100;p2"/>
          <p:cNvSpPr/>
          <p:nvPr/>
        </p:nvSpPr>
        <p:spPr>
          <a:xfrm>
            <a:off x="0" y="0"/>
            <a:ext cx="18287988" cy="1236577"/>
          </a:xfrm>
          <a:custGeom>
            <a:avLst/>
            <a:gdLst/>
            <a:ahLst/>
            <a:cxnLst/>
            <a:rect l="l" t="t" r="r" b="b"/>
            <a:pathLst>
              <a:path w="24383984" h="1648769" extrusionOk="0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82688" b="-182688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1" name="Google Shape;101;p2"/>
          <p:cNvSpPr/>
          <p:nvPr/>
        </p:nvSpPr>
        <p:spPr>
          <a:xfrm>
            <a:off x="16719860" y="184379"/>
            <a:ext cx="1078897" cy="900017"/>
          </a:xfrm>
          <a:custGeom>
            <a:avLst/>
            <a:gdLst/>
            <a:ahLst/>
            <a:cxnLst/>
            <a:rect l="l" t="t" r="r" b="b"/>
            <a:pathLst>
              <a:path w="1438529" h="1200023" extrusionOk="0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59" b="-160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3" name="Google Shape;103;p2"/>
          <p:cNvSpPr txBox="1"/>
          <p:nvPr/>
        </p:nvSpPr>
        <p:spPr>
          <a:xfrm>
            <a:off x="190984" y="257369"/>
            <a:ext cx="14889792" cy="93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lang="en-US" sz="4875" b="0" i="0" u="none" strike="noStrike" cap="none" dirty="0" err="1">
                <a:solidFill>
                  <a:srgbClr val="FFFEFF"/>
                </a:solidFill>
                <a:latin typeface="Roboto Slab"/>
                <a:ea typeface="Roboto Slab"/>
                <a:cs typeface="Roboto Slab"/>
                <a:sym typeface="Roboto Slab"/>
              </a:rPr>
              <a:t>Contexto</a:t>
            </a:r>
            <a:r>
              <a:rPr lang="en-US" sz="4875" b="0" i="0" u="none" strike="noStrike" cap="none" dirty="0">
                <a:solidFill>
                  <a:srgbClr val="FFFEFF"/>
                </a:solidFill>
                <a:latin typeface="Roboto Slab"/>
                <a:ea typeface="Roboto Slab"/>
                <a:cs typeface="Roboto Slab"/>
                <a:sym typeface="Roboto Slab"/>
              </a:rPr>
              <a:t> del Sistema y </a:t>
            </a:r>
            <a:r>
              <a:rPr lang="en-US" sz="4875" b="0" i="0" u="none" strike="noStrike" cap="none" dirty="0" err="1">
                <a:solidFill>
                  <a:srgbClr val="FFFEFF"/>
                </a:solidFill>
                <a:latin typeface="Roboto Slab"/>
                <a:ea typeface="Roboto Slab"/>
                <a:cs typeface="Roboto Slab"/>
                <a:sym typeface="Roboto Slab"/>
              </a:rPr>
              <a:t>arquitectura</a:t>
            </a:r>
            <a:r>
              <a:rPr lang="en-US" sz="4875" b="0" i="0" u="none" strike="noStrike" cap="none" dirty="0">
                <a:solidFill>
                  <a:srgbClr val="FFFEFF"/>
                </a:solidFill>
                <a:latin typeface="Roboto Slab"/>
                <a:ea typeface="Roboto Slab"/>
                <a:cs typeface="Roboto Slab"/>
                <a:sym typeface="Roboto Slab"/>
              </a:rPr>
              <a:t> General</a:t>
            </a:r>
            <a:r>
              <a:rPr lang="en-US" sz="4875" b="0" i="0" u="none" strike="noStrike" cap="none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BD7FECB-7396-AAC2-51ED-163CBB6B4115}"/>
              </a:ext>
            </a:extLst>
          </p:cNvPr>
          <p:cNvSpPr txBox="1"/>
          <p:nvPr/>
        </p:nvSpPr>
        <p:spPr>
          <a:xfrm>
            <a:off x="791571" y="1493947"/>
            <a:ext cx="11054686" cy="334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400" dirty="0"/>
              <a:t>El sistema desarrollado corresponde a una plataforma web construida bajo arquitectura </a:t>
            </a:r>
            <a:r>
              <a:rPr lang="es-MX" sz="2400" b="1" dirty="0"/>
              <a:t>MVC</a:t>
            </a:r>
            <a:r>
              <a:rPr lang="es-MX" sz="2400" dirty="0"/>
              <a:t>, cuyo propósito es gestionar las funcionalidades principales del negocio mediante módulos para usuarios, inventario, pedidos y reportes.</a:t>
            </a:r>
            <a:br>
              <a:rPr lang="es-MX" sz="2400" dirty="0"/>
            </a:br>
            <a:r>
              <a:rPr lang="es-MX" sz="2400" dirty="0"/>
              <a:t>Su implementación utiliza </a:t>
            </a:r>
            <a:r>
              <a:rPr lang="es-MX" sz="2400" b="1" dirty="0"/>
              <a:t>Node.js + Express</a:t>
            </a:r>
            <a:r>
              <a:rPr lang="es-MX" sz="2400" dirty="0"/>
              <a:t> para la capa lógica, </a:t>
            </a:r>
            <a:r>
              <a:rPr lang="es-MX" sz="2400" b="1" dirty="0"/>
              <a:t>PostgreSQL</a:t>
            </a:r>
            <a:r>
              <a:rPr lang="es-MX" sz="2400" dirty="0"/>
              <a:t> como motor de base de datos relacional y un conjunto de vistas renderizadas mediante </a:t>
            </a:r>
            <a:r>
              <a:rPr lang="es-MX" sz="2400" b="1" dirty="0"/>
              <a:t>EJS/HTML</a:t>
            </a:r>
            <a:r>
              <a:rPr lang="es-MX" sz="2400" dirty="0"/>
              <a:t>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D94B5E0-EE86-87AC-9C4A-42EAC75A44BC}"/>
              </a:ext>
            </a:extLst>
          </p:cNvPr>
          <p:cNvSpPr txBox="1"/>
          <p:nvPr/>
        </p:nvSpPr>
        <p:spPr>
          <a:xfrm>
            <a:off x="4428698" y="4991318"/>
            <a:ext cx="92395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0" dirty="0">
                <a:effectLst/>
              </a:rPr>
              <a:t> </a:t>
            </a:r>
            <a:endParaRPr lang="es-CL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9D448A9-B712-0D6C-11E6-A3133F798B7D}"/>
              </a:ext>
            </a:extLst>
          </p:cNvPr>
          <p:cNvSpPr txBox="1"/>
          <p:nvPr/>
        </p:nvSpPr>
        <p:spPr>
          <a:xfrm>
            <a:off x="791572" y="5652560"/>
            <a:ext cx="11054685" cy="2793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s-MX" sz="2400" dirty="0"/>
              <a:t>La Vista se encarga de la interacción con el usuario, el Controlador procesa las solicitudes HTTP y conecta con los modelos, y el Modelo maneja las consultas y operaciones con la base de datos PostgreSQL.</a:t>
            </a:r>
          </a:p>
          <a:p>
            <a:pPr algn="just">
              <a:lnSpc>
                <a:spcPct val="150000"/>
              </a:lnSpc>
              <a:buNone/>
            </a:pPr>
            <a:r>
              <a:rPr lang="es-MX" sz="2400" dirty="0"/>
              <a:t>La arquitectura se complementa con la separación lógica de módulos y el uso de rutas REST para mantener un flujo ordenado y fácil de mantener.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0" y="0"/>
            <a:ext cx="18287988" cy="1236577"/>
          </a:xfrm>
          <a:custGeom>
            <a:avLst/>
            <a:gdLst/>
            <a:ahLst/>
            <a:cxnLst/>
            <a:rect l="l" t="t" r="r" b="b"/>
            <a:pathLst>
              <a:path w="24383984" h="1648769" extrusionOk="0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82688" b="-182688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18" name="Google Shape;118;p4"/>
          <p:cNvSpPr txBox="1"/>
          <p:nvPr/>
        </p:nvSpPr>
        <p:spPr>
          <a:xfrm>
            <a:off x="221825" y="284163"/>
            <a:ext cx="13074474" cy="93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lang="en-US" sz="4875" dirty="0">
                <a:solidFill>
                  <a:srgbClr val="FFFEFF"/>
                </a:solidFill>
                <a:latin typeface="Roboto Slab"/>
                <a:ea typeface="Roboto Slab"/>
                <a:cs typeface="Roboto Slab"/>
                <a:sym typeface="Roboto Slab"/>
              </a:rPr>
              <a:t>S</a:t>
            </a:r>
            <a:r>
              <a:rPr lang="en-US" sz="4875" b="0" i="0" u="none" strike="noStrike" cap="none" dirty="0">
                <a:solidFill>
                  <a:srgbClr val="FFFEFF"/>
                </a:solidFill>
                <a:latin typeface="Roboto Slab"/>
                <a:ea typeface="Roboto Slab"/>
                <a:cs typeface="Roboto Slab"/>
                <a:sym typeface="Roboto Slab"/>
              </a:rPr>
              <a:t>elección de casos de </a:t>
            </a:r>
            <a:r>
              <a:rPr lang="en-US" sz="4875" b="0" i="0" u="none" strike="noStrike" cap="none" dirty="0" err="1">
                <a:solidFill>
                  <a:srgbClr val="FFFEFF"/>
                </a:solidFill>
                <a:latin typeface="Roboto Slab"/>
                <a:ea typeface="Roboto Slab"/>
                <a:cs typeface="Roboto Slab"/>
                <a:sym typeface="Roboto Slab"/>
              </a:rPr>
              <a:t>uso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17050470" y="98373"/>
            <a:ext cx="1078897" cy="900017"/>
          </a:xfrm>
          <a:custGeom>
            <a:avLst/>
            <a:gdLst/>
            <a:ahLst/>
            <a:cxnLst/>
            <a:rect l="l" t="t" r="r" b="b"/>
            <a:pathLst>
              <a:path w="1438529" h="1200023" extrusionOk="0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59" b="-160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grpSp>
        <p:nvGrpSpPr>
          <p:cNvPr id="123" name="Google Shape;123;p4"/>
          <p:cNvGrpSpPr/>
          <p:nvPr/>
        </p:nvGrpSpPr>
        <p:grpSpPr>
          <a:xfrm>
            <a:off x="1261248" y="1456958"/>
            <a:ext cx="6804579" cy="970300"/>
            <a:chOff x="0" y="-95250"/>
            <a:chExt cx="962439" cy="338536"/>
          </a:xfrm>
        </p:grpSpPr>
        <p:sp>
          <p:nvSpPr>
            <p:cNvPr id="124" name="Google Shape;124;p4"/>
            <p:cNvSpPr/>
            <p:nvPr/>
          </p:nvSpPr>
          <p:spPr>
            <a:xfrm>
              <a:off x="0" y="0"/>
              <a:ext cx="962439" cy="243286"/>
            </a:xfrm>
            <a:custGeom>
              <a:avLst/>
              <a:gdLst/>
              <a:ahLst/>
              <a:cxnLst/>
              <a:rect l="l" t="t" r="r" b="b"/>
              <a:pathLst>
                <a:path w="962439" h="243286" extrusionOk="0">
                  <a:moveTo>
                    <a:pt x="0" y="0"/>
                  </a:moveTo>
                  <a:lnTo>
                    <a:pt x="962439" y="0"/>
                  </a:lnTo>
                  <a:lnTo>
                    <a:pt x="962439" y="243286"/>
                  </a:lnTo>
                  <a:lnTo>
                    <a:pt x="0" y="243286"/>
                  </a:ln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25" name="Google Shape;125;p4"/>
            <p:cNvSpPr txBox="1"/>
            <p:nvPr/>
          </p:nvSpPr>
          <p:spPr>
            <a:xfrm>
              <a:off x="0" y="-95250"/>
              <a:ext cx="962439" cy="3385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3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4"/>
          <p:cNvGrpSpPr/>
          <p:nvPr/>
        </p:nvGrpSpPr>
        <p:grpSpPr>
          <a:xfrm>
            <a:off x="1261248" y="3724419"/>
            <a:ext cx="12422815" cy="1064968"/>
            <a:chOff x="0" y="-95250"/>
            <a:chExt cx="894697" cy="280485"/>
          </a:xfrm>
        </p:grpSpPr>
        <p:sp>
          <p:nvSpPr>
            <p:cNvPr id="127" name="Google Shape;127;p4"/>
            <p:cNvSpPr/>
            <p:nvPr/>
          </p:nvSpPr>
          <p:spPr>
            <a:xfrm>
              <a:off x="0" y="0"/>
              <a:ext cx="894697" cy="185235"/>
            </a:xfrm>
            <a:custGeom>
              <a:avLst/>
              <a:gdLst/>
              <a:ahLst/>
              <a:cxnLst/>
              <a:rect l="l" t="t" r="r" b="b"/>
              <a:pathLst>
                <a:path w="894697" h="185235" extrusionOk="0">
                  <a:moveTo>
                    <a:pt x="0" y="0"/>
                  </a:moveTo>
                  <a:lnTo>
                    <a:pt x="894697" y="0"/>
                  </a:lnTo>
                  <a:lnTo>
                    <a:pt x="894697" y="185235"/>
                  </a:lnTo>
                  <a:lnTo>
                    <a:pt x="0" y="185235"/>
                  </a:ln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28" name="Google Shape;128;p4"/>
            <p:cNvSpPr txBox="1"/>
            <p:nvPr/>
          </p:nvSpPr>
          <p:spPr>
            <a:xfrm>
              <a:off x="0" y="-95250"/>
              <a:ext cx="894697" cy="2804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3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4"/>
          <p:cNvGrpSpPr/>
          <p:nvPr/>
        </p:nvGrpSpPr>
        <p:grpSpPr>
          <a:xfrm>
            <a:off x="1261248" y="6048319"/>
            <a:ext cx="13214385" cy="1093081"/>
            <a:chOff x="0" y="-95250"/>
            <a:chExt cx="927000" cy="287889"/>
          </a:xfrm>
        </p:grpSpPr>
        <p:sp>
          <p:nvSpPr>
            <p:cNvPr id="130" name="Google Shape;130;p4"/>
            <p:cNvSpPr/>
            <p:nvPr/>
          </p:nvSpPr>
          <p:spPr>
            <a:xfrm>
              <a:off x="0" y="0"/>
              <a:ext cx="927000" cy="192639"/>
            </a:xfrm>
            <a:custGeom>
              <a:avLst/>
              <a:gdLst/>
              <a:ahLst/>
              <a:cxnLst/>
              <a:rect l="l" t="t" r="r" b="b"/>
              <a:pathLst>
                <a:path w="927000" h="192639" extrusionOk="0">
                  <a:moveTo>
                    <a:pt x="0" y="0"/>
                  </a:moveTo>
                  <a:lnTo>
                    <a:pt x="927000" y="0"/>
                  </a:lnTo>
                  <a:lnTo>
                    <a:pt x="927000" y="192639"/>
                  </a:lnTo>
                  <a:lnTo>
                    <a:pt x="0" y="192639"/>
                  </a:lnTo>
                  <a:close/>
                </a:path>
              </a:pathLst>
            </a:custGeom>
            <a:solidFill>
              <a:srgbClr val="AD1E2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0" y="-95250"/>
              <a:ext cx="927000" cy="2878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3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4"/>
          <p:cNvSpPr txBox="1"/>
          <p:nvPr/>
        </p:nvSpPr>
        <p:spPr>
          <a:xfrm>
            <a:off x="1458054" y="1773108"/>
            <a:ext cx="8071628" cy="611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0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8"/>
              <a:buFont typeface="Arial"/>
              <a:buNone/>
            </a:pPr>
            <a:r>
              <a:rPr lang="en-US" sz="3228" b="0" i="0" u="none" strike="noStrike" cap="none" dirty="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CU17: </a:t>
            </a:r>
            <a:r>
              <a:rPr lang="en-US" sz="3228" b="0" i="0" u="none" strike="noStrike" cap="none" dirty="0" err="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Registrando</a:t>
            </a:r>
            <a:r>
              <a:rPr lang="en-US" sz="3228" b="0" i="0" u="none" strike="noStrike" cap="none" dirty="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nuevo </a:t>
            </a:r>
            <a:r>
              <a:rPr lang="en-US" sz="3228" b="0" i="0" u="none" strike="noStrike" cap="none" dirty="0" err="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pedido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1458054" y="4130751"/>
            <a:ext cx="12382751" cy="611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0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8"/>
              <a:buFont typeface="Arial"/>
              <a:buNone/>
            </a:pPr>
            <a:r>
              <a:rPr lang="en-US" sz="3228" b="0" i="0" u="none" strike="noStrike" cap="none" dirty="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CU45: </a:t>
            </a:r>
            <a:r>
              <a:rPr lang="en-US" sz="3228" b="0" i="0" u="none" strike="noStrike" cap="none" dirty="0" err="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Registrando</a:t>
            </a:r>
            <a:r>
              <a:rPr lang="en-US" sz="3228" b="0" i="0" u="none" strike="noStrike" cap="none" dirty="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3228" b="0" i="0" u="none" strike="noStrike" cap="none" dirty="0" err="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inspección</a:t>
            </a:r>
            <a:r>
              <a:rPr lang="en-US" sz="3228" b="0" i="0" u="none" strike="noStrike" cap="none" dirty="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de cilindros antes del </a:t>
            </a:r>
            <a:r>
              <a:rPr lang="en-US" sz="3228" b="0" i="0" u="none" strike="noStrike" cap="none" dirty="0" err="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despacho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1458054" y="6470185"/>
            <a:ext cx="9965122" cy="611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0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8"/>
              <a:buFont typeface="Arial"/>
              <a:buNone/>
            </a:pPr>
            <a:r>
              <a:rPr lang="en-US" sz="3228" dirty="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CU21: </a:t>
            </a:r>
            <a:r>
              <a:rPr lang="en-US" sz="3228" dirty="0" err="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Asignando</a:t>
            </a:r>
            <a:r>
              <a:rPr lang="en-US" sz="3228" dirty="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3228" dirty="0" err="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pedidos</a:t>
            </a:r>
            <a:r>
              <a:rPr lang="en-US" sz="3228" dirty="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a </a:t>
            </a:r>
            <a:r>
              <a:rPr lang="en-US" sz="3228" dirty="0" err="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choferes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7156275-B91A-986A-6355-28B2B4C49337}"/>
              </a:ext>
            </a:extLst>
          </p:cNvPr>
          <p:cNvSpPr txBox="1"/>
          <p:nvPr/>
        </p:nvSpPr>
        <p:spPr>
          <a:xfrm>
            <a:off x="1810921" y="2691880"/>
            <a:ext cx="68045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3200" dirty="0"/>
              <a:t>Crear un pedido nuevo con detalles del cliente y cilindros requeridos.</a:t>
            </a:r>
            <a:endParaRPr lang="es-CL" sz="3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0F67EB8-4982-73AB-F155-816DF052BF26}"/>
              </a:ext>
            </a:extLst>
          </p:cNvPr>
          <p:cNvSpPr txBox="1"/>
          <p:nvPr/>
        </p:nvSpPr>
        <p:spPr>
          <a:xfrm>
            <a:off x="1810921" y="4992875"/>
            <a:ext cx="68045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3200" dirty="0"/>
              <a:t>Registrar el estado de cada cilindro antes de ser despachado.</a:t>
            </a:r>
            <a:endParaRPr lang="es-CL" sz="32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76EE1A0-C44F-5BC4-4F3B-EC889A1E3BD3}"/>
              </a:ext>
            </a:extLst>
          </p:cNvPr>
          <p:cNvSpPr txBox="1"/>
          <p:nvPr/>
        </p:nvSpPr>
        <p:spPr>
          <a:xfrm>
            <a:off x="1810921" y="7356984"/>
            <a:ext cx="68045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3200" dirty="0"/>
              <a:t>Registrar el estado de cada cilindro antes de ser despachado.</a:t>
            </a:r>
            <a:endParaRPr lang="es-CL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46C50EA9-8057-F13F-A9C8-24E23AE5F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8D2215EF-B4D6-BDAB-A243-921B801808D2}"/>
              </a:ext>
            </a:extLst>
          </p:cNvPr>
          <p:cNvSpPr/>
          <p:nvPr/>
        </p:nvSpPr>
        <p:spPr>
          <a:xfrm>
            <a:off x="0" y="0"/>
            <a:ext cx="18287988" cy="1236577"/>
          </a:xfrm>
          <a:custGeom>
            <a:avLst/>
            <a:gdLst/>
            <a:ahLst/>
            <a:cxnLst/>
            <a:rect l="l" t="t" r="r" b="b"/>
            <a:pathLst>
              <a:path w="24383984" h="1648769" extrusionOk="0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82688" b="-182688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1F1C0DB3-06A4-4270-0C95-81225F9611E8}"/>
              </a:ext>
            </a:extLst>
          </p:cNvPr>
          <p:cNvSpPr txBox="1"/>
          <p:nvPr/>
        </p:nvSpPr>
        <p:spPr>
          <a:xfrm>
            <a:off x="221825" y="284163"/>
            <a:ext cx="13074474" cy="93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3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lang="en-US" sz="4875" b="0" i="0" u="none" strike="noStrike" cap="none" dirty="0" err="1">
                <a:solidFill>
                  <a:srgbClr val="FFFEFF"/>
                </a:solidFill>
                <a:latin typeface="Roboto Slab"/>
                <a:ea typeface="Roboto Slab"/>
                <a:cs typeface="Roboto Slab"/>
                <a:sym typeface="Roboto Slab"/>
              </a:rPr>
              <a:t>Diagrama</a:t>
            </a:r>
            <a:r>
              <a:rPr lang="en-US" sz="4875" b="0" i="0" u="none" strike="noStrike" cap="none" dirty="0">
                <a:solidFill>
                  <a:srgbClr val="FFFEFF"/>
                </a:solidFill>
                <a:latin typeface="Roboto Slab"/>
                <a:ea typeface="Roboto Slab"/>
                <a:cs typeface="Roboto Slab"/>
                <a:sym typeface="Roboto Slab"/>
              </a:rPr>
              <a:t> de base de </a:t>
            </a:r>
            <a:r>
              <a:rPr lang="en-US" sz="4875" b="0" i="0" u="none" strike="noStrike" cap="none" dirty="0" err="1">
                <a:solidFill>
                  <a:srgbClr val="FFFEFF"/>
                </a:solidFill>
                <a:latin typeface="Roboto Slab"/>
                <a:ea typeface="Roboto Slab"/>
                <a:cs typeface="Roboto Slab"/>
                <a:sym typeface="Roboto Slab"/>
              </a:rPr>
              <a:t>datos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10881B48-0FA0-9904-D6C5-EB59B1DB5549}"/>
              </a:ext>
            </a:extLst>
          </p:cNvPr>
          <p:cNvSpPr/>
          <p:nvPr/>
        </p:nvSpPr>
        <p:spPr>
          <a:xfrm>
            <a:off x="17050470" y="98373"/>
            <a:ext cx="1078897" cy="900017"/>
          </a:xfrm>
          <a:custGeom>
            <a:avLst/>
            <a:gdLst/>
            <a:ahLst/>
            <a:cxnLst/>
            <a:rect l="l" t="t" r="r" b="b"/>
            <a:pathLst>
              <a:path w="1438529" h="1200023" extrusionOk="0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59" b="-160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B882798-86E7-CB90-AE92-6D1A8BA16F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943" r="592" b="3703"/>
          <a:stretch>
            <a:fillRect/>
          </a:stretch>
        </p:blipFill>
        <p:spPr>
          <a:xfrm>
            <a:off x="1028700" y="1292120"/>
            <a:ext cx="8438062" cy="899488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0FF844B3-D647-C96F-DA8B-D0A7E37D054B}"/>
              </a:ext>
            </a:extLst>
          </p:cNvPr>
          <p:cNvSpPr txBox="1"/>
          <p:nvPr/>
        </p:nvSpPr>
        <p:spPr>
          <a:xfrm>
            <a:off x="10672535" y="2138805"/>
            <a:ext cx="3541528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CU17: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pedido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detallepedido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cliente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cilindro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historial</a:t>
            </a:r>
          </a:p>
          <a:p>
            <a:r>
              <a:rPr lang="es-MX" sz="2800" dirty="0"/>
              <a:t>CU45: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pedido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detallepedido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cilindro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despacho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historial</a:t>
            </a:r>
          </a:p>
          <a:p>
            <a:r>
              <a:rPr lang="es-MX" sz="2800" dirty="0"/>
              <a:t>CU21: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Usuario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Pedido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detallepedido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historial</a:t>
            </a: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2013506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/>
          <p:nvPr/>
        </p:nvSpPr>
        <p:spPr>
          <a:xfrm>
            <a:off x="12" y="0"/>
            <a:ext cx="18287988" cy="1236577"/>
          </a:xfrm>
          <a:custGeom>
            <a:avLst/>
            <a:gdLst/>
            <a:ahLst/>
            <a:cxnLst/>
            <a:rect l="l" t="t" r="r" b="b"/>
            <a:pathLst>
              <a:path w="24383984" h="1648769" extrusionOk="0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82688" b="-182688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44" name="Google Shape;144;p5"/>
          <p:cNvSpPr/>
          <p:nvPr/>
        </p:nvSpPr>
        <p:spPr>
          <a:xfrm>
            <a:off x="17050470" y="98373"/>
            <a:ext cx="1078897" cy="900017"/>
          </a:xfrm>
          <a:custGeom>
            <a:avLst/>
            <a:gdLst/>
            <a:ahLst/>
            <a:cxnLst/>
            <a:rect l="l" t="t" r="r" b="b"/>
            <a:pathLst>
              <a:path w="1438529" h="1200023" extrusionOk="0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59" b="-160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" name="Google Shape;132;p4">
            <a:extLst>
              <a:ext uri="{FF2B5EF4-FFF2-40B4-BE49-F238E27FC236}">
                <a16:creationId xmlns:a16="http://schemas.microsoft.com/office/drawing/2014/main" id="{3DAAEA53-7CB8-0455-4F2B-3DEB38358E30}"/>
              </a:ext>
            </a:extLst>
          </p:cNvPr>
          <p:cNvSpPr txBox="1"/>
          <p:nvPr/>
        </p:nvSpPr>
        <p:spPr>
          <a:xfrm>
            <a:off x="1126273" y="355036"/>
            <a:ext cx="11047530" cy="75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0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8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CU17: </a:t>
            </a:r>
            <a:r>
              <a:rPr lang="en-US" sz="4000" b="0" i="0" u="none" strike="noStrike" cap="none" dirty="0" err="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Registrando</a:t>
            </a:r>
            <a:r>
              <a:rPr lang="en-US" sz="4000" b="0" i="0" u="none" strike="noStrike" cap="none" dirty="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nuevo </a:t>
            </a:r>
            <a:r>
              <a:rPr lang="en-US" sz="4000" b="0" i="0" u="none" strike="noStrike" cap="none" dirty="0" err="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pedido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77355C5-B6CB-BDD6-1B27-F2AD23AD58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0843" y="1906990"/>
            <a:ext cx="11126314" cy="64730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/>
          <p:nvPr/>
        </p:nvSpPr>
        <p:spPr>
          <a:xfrm>
            <a:off x="0" y="0"/>
            <a:ext cx="18396447" cy="1302714"/>
          </a:xfrm>
          <a:custGeom>
            <a:avLst/>
            <a:gdLst/>
            <a:ahLst/>
            <a:cxnLst/>
            <a:rect l="l" t="t" r="r" b="b"/>
            <a:pathLst>
              <a:path w="24528597" h="1736952" extrusionOk="0">
                <a:moveTo>
                  <a:pt x="0" y="0"/>
                </a:moveTo>
                <a:lnTo>
                  <a:pt x="24528597" y="0"/>
                </a:lnTo>
                <a:lnTo>
                  <a:pt x="24528597" y="1736952"/>
                </a:lnTo>
                <a:lnTo>
                  <a:pt x="0" y="17369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2170" b="-172175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80" name="Google Shape;180;p9"/>
          <p:cNvSpPr/>
          <p:nvPr/>
        </p:nvSpPr>
        <p:spPr>
          <a:xfrm>
            <a:off x="17050470" y="98373"/>
            <a:ext cx="1078897" cy="900017"/>
          </a:xfrm>
          <a:custGeom>
            <a:avLst/>
            <a:gdLst/>
            <a:ahLst/>
            <a:cxnLst/>
            <a:rect l="l" t="t" r="r" b="b"/>
            <a:pathLst>
              <a:path w="1438529" h="1200023" extrusionOk="0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59" b="-160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228E8BC-34C3-D6B0-0DDF-E2505CE722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5273" y="1005705"/>
            <a:ext cx="13557453" cy="82755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"/>
          <p:cNvSpPr/>
          <p:nvPr/>
        </p:nvSpPr>
        <p:spPr>
          <a:xfrm>
            <a:off x="0" y="0"/>
            <a:ext cx="18287988" cy="1236577"/>
          </a:xfrm>
          <a:custGeom>
            <a:avLst/>
            <a:gdLst/>
            <a:ahLst/>
            <a:cxnLst/>
            <a:rect l="l" t="t" r="r" b="b"/>
            <a:pathLst>
              <a:path w="24383984" h="1648769" extrusionOk="0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82688" b="-182688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65" name="Google Shape;265;p22"/>
          <p:cNvSpPr/>
          <p:nvPr/>
        </p:nvSpPr>
        <p:spPr>
          <a:xfrm>
            <a:off x="17050470" y="98373"/>
            <a:ext cx="1078897" cy="900017"/>
          </a:xfrm>
          <a:custGeom>
            <a:avLst/>
            <a:gdLst/>
            <a:ahLst/>
            <a:cxnLst/>
            <a:rect l="l" t="t" r="r" b="b"/>
            <a:pathLst>
              <a:path w="1438529" h="1200023" extrusionOk="0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59" b="-160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3" name="Google Shape;134;p4">
            <a:extLst>
              <a:ext uri="{FF2B5EF4-FFF2-40B4-BE49-F238E27FC236}">
                <a16:creationId xmlns:a16="http://schemas.microsoft.com/office/drawing/2014/main" id="{0FF6C279-AEAC-7D27-FC8A-1B2C6CF0F8B7}"/>
              </a:ext>
            </a:extLst>
          </p:cNvPr>
          <p:cNvSpPr txBox="1"/>
          <p:nvPr/>
        </p:nvSpPr>
        <p:spPr>
          <a:xfrm>
            <a:off x="898496" y="312787"/>
            <a:ext cx="15533408" cy="75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0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8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CU45: </a:t>
            </a:r>
            <a:r>
              <a:rPr lang="en-US" sz="4000" b="0" i="0" u="none" strike="noStrike" cap="none" dirty="0" err="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Registrando</a:t>
            </a:r>
            <a:r>
              <a:rPr lang="en-US" sz="4000" b="0" i="0" u="none" strike="noStrike" cap="none" dirty="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4000" b="0" i="0" u="none" strike="noStrike" cap="none" dirty="0" err="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inspección</a:t>
            </a:r>
            <a:r>
              <a:rPr lang="en-US" sz="4000" b="0" i="0" u="none" strike="noStrike" cap="none" dirty="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de cilindros antes del </a:t>
            </a:r>
            <a:r>
              <a:rPr lang="en-US" sz="4000" b="0" i="0" u="none" strike="noStrike" cap="none" dirty="0" err="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despacho</a:t>
            </a:r>
            <a:endParaRPr lang="en-US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1CEC068-884F-21F2-EF5E-AEFBC952C2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3551" y="2104407"/>
            <a:ext cx="10480898" cy="60781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>
          <a:extLst>
            <a:ext uri="{FF2B5EF4-FFF2-40B4-BE49-F238E27FC236}">
              <a16:creationId xmlns:a16="http://schemas.microsoft.com/office/drawing/2014/main" id="{F983478E-E9FE-AB98-625A-F6154F590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">
            <a:extLst>
              <a:ext uri="{FF2B5EF4-FFF2-40B4-BE49-F238E27FC236}">
                <a16:creationId xmlns:a16="http://schemas.microsoft.com/office/drawing/2014/main" id="{A5977E62-B25C-E523-5A91-919F4B696013}"/>
              </a:ext>
            </a:extLst>
          </p:cNvPr>
          <p:cNvSpPr/>
          <p:nvPr/>
        </p:nvSpPr>
        <p:spPr>
          <a:xfrm>
            <a:off x="0" y="0"/>
            <a:ext cx="18287988" cy="1236577"/>
          </a:xfrm>
          <a:custGeom>
            <a:avLst/>
            <a:gdLst/>
            <a:ahLst/>
            <a:cxnLst/>
            <a:rect l="l" t="t" r="r" b="b"/>
            <a:pathLst>
              <a:path w="24383984" h="1648769" extrusionOk="0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82688" b="-182688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65" name="Google Shape;265;p22">
            <a:extLst>
              <a:ext uri="{FF2B5EF4-FFF2-40B4-BE49-F238E27FC236}">
                <a16:creationId xmlns:a16="http://schemas.microsoft.com/office/drawing/2014/main" id="{9241B2A4-8EE0-8ABC-C10A-4075C34B7F2F}"/>
              </a:ext>
            </a:extLst>
          </p:cNvPr>
          <p:cNvSpPr/>
          <p:nvPr/>
        </p:nvSpPr>
        <p:spPr>
          <a:xfrm>
            <a:off x="17050470" y="98373"/>
            <a:ext cx="1078897" cy="900017"/>
          </a:xfrm>
          <a:custGeom>
            <a:avLst/>
            <a:gdLst/>
            <a:ahLst/>
            <a:cxnLst/>
            <a:rect l="l" t="t" r="r" b="b"/>
            <a:pathLst>
              <a:path w="1438529" h="1200023" extrusionOk="0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59" b="-160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208B5C7-B455-1EE7-53F8-D6D13E4C7B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0843" y="1318140"/>
            <a:ext cx="12638969" cy="887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423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"/>
          <p:cNvSpPr/>
          <p:nvPr/>
        </p:nvSpPr>
        <p:spPr>
          <a:xfrm>
            <a:off x="0" y="0"/>
            <a:ext cx="18287988" cy="1633702"/>
          </a:xfrm>
          <a:custGeom>
            <a:avLst/>
            <a:gdLst/>
            <a:ahLst/>
            <a:cxnLst/>
            <a:rect l="l" t="t" r="r" b="b"/>
            <a:pathLst>
              <a:path w="24383984" h="1648769" extrusionOk="0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82688" b="-182688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92" name="Google Shape;192;p17"/>
          <p:cNvSpPr/>
          <p:nvPr/>
        </p:nvSpPr>
        <p:spPr>
          <a:xfrm>
            <a:off x="17050470" y="98373"/>
            <a:ext cx="1078897" cy="900017"/>
          </a:xfrm>
          <a:custGeom>
            <a:avLst/>
            <a:gdLst/>
            <a:ahLst/>
            <a:cxnLst/>
            <a:rect l="l" t="t" r="r" b="b"/>
            <a:pathLst>
              <a:path w="1438529" h="1200023" extrusionOk="0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59" b="-160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09" name="Google Shape;209;p17"/>
          <p:cNvSpPr txBox="1"/>
          <p:nvPr/>
        </p:nvSpPr>
        <p:spPr>
          <a:xfrm>
            <a:off x="163415" y="248529"/>
            <a:ext cx="15447941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4348"/>
              </a:lnSpc>
              <a:buSzPts val="4875"/>
            </a:pPr>
            <a:r>
              <a:rPr lang="en-US" sz="4000" b="0" i="0" u="none" strike="noStrike" cap="none" dirty="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CU21: </a:t>
            </a:r>
            <a:r>
              <a:rPr lang="en-US" sz="4000" dirty="0" err="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Registrando</a:t>
            </a:r>
            <a:r>
              <a:rPr lang="en-US" sz="4000" dirty="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inspección</a:t>
            </a:r>
            <a:r>
              <a:rPr lang="en-US" sz="4000" dirty="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de cilindros antes del </a:t>
            </a:r>
            <a:r>
              <a:rPr lang="en-US" sz="4000" dirty="0" err="1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despacho</a:t>
            </a:r>
            <a:r>
              <a:rPr lang="en-US" sz="4000" b="0" i="0" u="none" strike="noStrike" cap="none" dirty="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endParaRPr sz="10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74D1D1A-E19C-648C-890F-5B91FC242A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2999" y="2437208"/>
            <a:ext cx="10302002" cy="63257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"/>
          <p:cNvSpPr/>
          <p:nvPr/>
        </p:nvSpPr>
        <p:spPr>
          <a:xfrm>
            <a:off x="0" y="0"/>
            <a:ext cx="18287988" cy="1204341"/>
          </a:xfrm>
          <a:custGeom>
            <a:avLst/>
            <a:gdLst/>
            <a:ahLst/>
            <a:cxnLst/>
            <a:rect l="l" t="t" r="r" b="b"/>
            <a:pathLst>
              <a:path w="24383984" h="1605788" extrusionOk="0">
                <a:moveTo>
                  <a:pt x="0" y="0"/>
                </a:moveTo>
                <a:lnTo>
                  <a:pt x="24383984" y="0"/>
                </a:lnTo>
                <a:lnTo>
                  <a:pt x="24383984" y="1605788"/>
                </a:lnTo>
                <a:lnTo>
                  <a:pt x="0" y="1605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88960" b="-188960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16" name="Google Shape;216;p18"/>
          <p:cNvSpPr/>
          <p:nvPr/>
        </p:nvSpPr>
        <p:spPr>
          <a:xfrm>
            <a:off x="17050470" y="98373"/>
            <a:ext cx="1078897" cy="900017"/>
          </a:xfrm>
          <a:custGeom>
            <a:avLst/>
            <a:gdLst/>
            <a:ahLst/>
            <a:cxnLst/>
            <a:rect l="l" t="t" r="r" b="b"/>
            <a:pathLst>
              <a:path w="1438529" h="1200023" extrusionOk="0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59" b="-160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59CD3C2-1314-5949-106D-DD34969AD5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523" y="1938337"/>
            <a:ext cx="16514942" cy="57959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"/>
          <p:cNvSpPr/>
          <p:nvPr/>
        </p:nvSpPr>
        <p:spPr>
          <a:xfrm>
            <a:off x="0" y="0"/>
            <a:ext cx="18287988" cy="1236577"/>
          </a:xfrm>
          <a:custGeom>
            <a:avLst/>
            <a:gdLst/>
            <a:ahLst/>
            <a:cxnLst/>
            <a:rect l="l" t="t" r="r" b="b"/>
            <a:pathLst>
              <a:path w="24383984" h="1648769" extrusionOk="0">
                <a:moveTo>
                  <a:pt x="0" y="0"/>
                </a:moveTo>
                <a:lnTo>
                  <a:pt x="24383984" y="0"/>
                </a:lnTo>
                <a:lnTo>
                  <a:pt x="24383984" y="1648769"/>
                </a:lnTo>
                <a:lnTo>
                  <a:pt x="0" y="16487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82688" b="-182688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42" name="Google Shape;242;p19"/>
          <p:cNvSpPr/>
          <p:nvPr/>
        </p:nvSpPr>
        <p:spPr>
          <a:xfrm>
            <a:off x="17050470" y="98373"/>
            <a:ext cx="1078897" cy="900017"/>
          </a:xfrm>
          <a:custGeom>
            <a:avLst/>
            <a:gdLst/>
            <a:ahLst/>
            <a:cxnLst/>
            <a:rect l="l" t="t" r="r" b="b"/>
            <a:pathLst>
              <a:path w="1438529" h="1200023" extrusionOk="0">
                <a:moveTo>
                  <a:pt x="0" y="0"/>
                </a:moveTo>
                <a:lnTo>
                  <a:pt x="1438529" y="0"/>
                </a:lnTo>
                <a:lnTo>
                  <a:pt x="1438529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59" b="-160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FB03A2-DE1A-6A9F-2173-6EE83A5EC0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2783" y="1828800"/>
            <a:ext cx="14582434" cy="66293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307</Words>
  <Application>Microsoft Office PowerPoint</Application>
  <PresentationFormat>Personalizado</PresentationFormat>
  <Paragraphs>47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Calibri</vt:lpstr>
      <vt:lpstr>Roboto Slab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seba valdo</dc:creator>
  <cp:lastModifiedBy>BENAVIDES ROMERO ANAKIN A</cp:lastModifiedBy>
  <cp:revision>2</cp:revision>
  <dcterms:created xsi:type="dcterms:W3CDTF">2006-08-16T00:00:00Z</dcterms:created>
  <dcterms:modified xsi:type="dcterms:W3CDTF">2025-11-20T01:50:09Z</dcterms:modified>
</cp:coreProperties>
</file>