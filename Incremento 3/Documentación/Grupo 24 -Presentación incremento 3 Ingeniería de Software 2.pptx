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Roboto Slab"/>
      <p:regular r:id="rId22"/>
      <p:bold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Libre Baskerville"/>
      <p:regular r:id="rId28"/>
      <p:bold r:id="rId29"/>
      <p: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juYswpgXp+TZvo6Ya6rcTbClTK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Slab-regular.fntdata"/><Relationship Id="rId21" Type="http://schemas.openxmlformats.org/officeDocument/2006/relationships/slide" Target="slides/slide16.xml"/><Relationship Id="rId24" Type="http://schemas.openxmlformats.org/officeDocument/2006/relationships/font" Target="fonts/Inter-regular.fntdata"/><Relationship Id="rId23" Type="http://schemas.openxmlformats.org/officeDocument/2006/relationships/font" Target="fonts/RobotoSlab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LibreBaskerville-regular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ibreBaskervill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LibreBaskerville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89030419a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g389030419a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6.jp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2.png"/><Relationship Id="rId7" Type="http://schemas.openxmlformats.org/officeDocument/2006/relationships/image" Target="../media/image14.png"/><Relationship Id="rId8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595" l="0" r="0" t="-16595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 rot="12582">
            <a:off x="2993216" y="5368496"/>
            <a:ext cx="11729942" cy="19050"/>
          </a:xfrm>
          <a:custGeom>
            <a:rect b="b" l="l" r="r" t="t"/>
            <a:pathLst>
              <a:path extrusionOk="0" h="25400" w="15639923">
                <a:moveTo>
                  <a:pt x="12700" y="0"/>
                </a:moveTo>
                <a:lnTo>
                  <a:pt x="15627223" y="0"/>
                </a:lnTo>
                <a:cubicBezTo>
                  <a:pt x="15634208" y="0"/>
                  <a:pt x="15639923" y="5715"/>
                  <a:pt x="15639923" y="12700"/>
                </a:cubicBezTo>
                <a:cubicBezTo>
                  <a:pt x="15639923" y="19685"/>
                  <a:pt x="15634208" y="25400"/>
                  <a:pt x="15627223" y="25400"/>
                </a:cubicBezTo>
                <a:lnTo>
                  <a:pt x="12700" y="25400"/>
                </a:lnTo>
                <a:cubicBezTo>
                  <a:pt x="5715" y="25400"/>
                  <a:pt x="0" y="19685"/>
                  <a:pt x="0" y="12700"/>
                </a:cubicBezTo>
                <a:cubicBezTo>
                  <a:pt x="0" y="5715"/>
                  <a:pt x="5715" y="0"/>
                  <a:pt x="127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 rot="5417063">
            <a:off x="4600718" y="4187575"/>
            <a:ext cx="1928813" cy="9525"/>
          </a:xfrm>
          <a:custGeom>
            <a:rect b="b" l="l" r="r" t="t"/>
            <a:pathLst>
              <a:path extrusionOk="0" h="12700" w="2571750">
                <a:moveTo>
                  <a:pt x="6350" y="0"/>
                </a:moveTo>
                <a:lnTo>
                  <a:pt x="2565400" y="0"/>
                </a:lnTo>
                <a:cubicBezTo>
                  <a:pt x="2568956" y="0"/>
                  <a:pt x="2571750" y="2794"/>
                  <a:pt x="2571750" y="6350"/>
                </a:cubicBezTo>
                <a:cubicBezTo>
                  <a:pt x="2571750" y="9906"/>
                  <a:pt x="2568956" y="12700"/>
                  <a:pt x="2565400" y="12700"/>
                </a:cubicBezTo>
                <a:lnTo>
                  <a:pt x="6350" y="12700"/>
                </a:lnTo>
                <a:cubicBezTo>
                  <a:pt x="2794" y="12700"/>
                  <a:pt x="0" y="9906"/>
                  <a:pt x="0" y="6350"/>
                </a:cubicBezTo>
                <a:cubicBezTo>
                  <a:pt x="0" y="2794"/>
                  <a:pt x="2794" y="0"/>
                  <a:pt x="63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5698074" y="1964246"/>
            <a:ext cx="10184400" cy="3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85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8"/>
              <a:buFont typeface="Arial"/>
              <a:buNone/>
            </a:pPr>
            <a:r>
              <a:rPr b="1" i="0" lang="en-US" sz="427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"Proyecto Ingeniería de software II </a:t>
            </a:r>
            <a:r>
              <a:rPr b="1" lang="en-US" sz="427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tercer</a:t>
            </a:r>
            <a:r>
              <a:rPr b="1" i="0" lang="en-US" sz="427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incremento para control de stock y cilindros para empresa Valgas e Hijo SPA"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8"/>
              <a:buFont typeface="Arial"/>
              <a:buNone/>
            </a:pPr>
            <a:r>
              <a:t/>
            </a:r>
            <a:endParaRPr b="1" i="0" sz="4278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928900" y="4820663"/>
            <a:ext cx="59754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5"/>
              <a:buFont typeface="Arial"/>
              <a:buNone/>
            </a:pPr>
            <a:r>
              <a:rPr b="0" i="0" lang="en-US" sz="231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Integrantes: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5"/>
              <a:buFont typeface="Arial"/>
              <a:buNone/>
            </a:pPr>
            <a:r>
              <a:t/>
            </a:r>
            <a:endParaRPr b="0" i="0" sz="231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5"/>
              <a:buFont typeface="Arial"/>
              <a:buNone/>
            </a:pPr>
            <a:r>
              <a:rPr b="0" i="0" lang="en-US" sz="231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Anakin Adolfo Benavides Romero</a:t>
            </a:r>
            <a:endParaRPr b="0" i="0" sz="231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5"/>
              <a:buFont typeface="Arial"/>
              <a:buNone/>
            </a:pPr>
            <a:r>
              <a:rPr b="0" i="0" lang="en-US" sz="231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Tomas Andres Burgos Bottari</a:t>
            </a:r>
            <a:endParaRPr b="0" i="0" sz="231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5"/>
              <a:buFont typeface="Arial"/>
              <a:buNone/>
            </a:pPr>
            <a:r>
              <a:rPr b="0" i="0" lang="en-US" sz="231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Diego Alonso Herrera Molina</a:t>
            </a:r>
            <a:endParaRPr b="0" i="0" sz="231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5"/>
              <a:buFont typeface="Arial"/>
              <a:buNone/>
            </a:pPr>
            <a:r>
              <a:rPr b="0" i="0" lang="en-US" sz="231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Juan Pablo Olmedo Saavedra</a:t>
            </a:r>
            <a:endParaRPr b="0" i="0" sz="231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5"/>
              <a:buFont typeface="Arial"/>
              <a:buNone/>
            </a:pPr>
            <a:r>
              <a:rPr b="0" i="0" lang="en-US" sz="231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Sebastián Ignacio Valdovinos Bravo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5"/>
              <a:buFont typeface="Arial"/>
              <a:buNone/>
            </a:pPr>
            <a:r>
              <a:rPr b="0" i="0" lang="en-US" sz="231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Cristóbal Alejandro Valenzuela Rojas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5"/>
              <a:buFont typeface="Arial"/>
              <a:buNone/>
            </a:pPr>
            <a:r>
              <a:t/>
            </a:r>
            <a:endParaRPr b="0" i="0" sz="231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1"/>
            <a:ext cx="18288000" cy="2153507"/>
          </a:xfrm>
          <a:custGeom>
            <a:rect b="b" l="l" r="r" t="t"/>
            <a:pathLst>
              <a:path extrusionOk="0" h="2871343" w="24384000">
                <a:moveTo>
                  <a:pt x="0" y="0"/>
                </a:moveTo>
                <a:lnTo>
                  <a:pt x="24384000" y="0"/>
                </a:lnTo>
                <a:lnTo>
                  <a:pt x="24384000" y="2871343"/>
                </a:lnTo>
                <a:lnTo>
                  <a:pt x="0" y="28713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3617" l="0" r="0" t="-83625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0" y="8230080"/>
            <a:ext cx="18288000" cy="2056923"/>
          </a:xfrm>
          <a:custGeom>
            <a:rect b="b" l="l" r="r" t="t"/>
            <a:pathLst>
              <a:path extrusionOk="0" h="2742565" w="24384000">
                <a:moveTo>
                  <a:pt x="0" y="0"/>
                </a:moveTo>
                <a:lnTo>
                  <a:pt x="24384000" y="0"/>
                </a:lnTo>
                <a:lnTo>
                  <a:pt x="24384000" y="2742565"/>
                </a:lnTo>
                <a:lnTo>
                  <a:pt x="0" y="2742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9896" l="0" r="0" t="-89893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2665445" y="2788003"/>
            <a:ext cx="2690145" cy="2501931"/>
          </a:xfrm>
          <a:custGeom>
            <a:rect b="b" l="l" r="r" t="t"/>
            <a:pathLst>
              <a:path extrusionOk="0" h="3335909" w="3586861">
                <a:moveTo>
                  <a:pt x="0" y="0"/>
                </a:moveTo>
                <a:lnTo>
                  <a:pt x="3586861" y="0"/>
                </a:lnTo>
                <a:lnTo>
                  <a:pt x="3586861" y="3335909"/>
                </a:lnTo>
                <a:lnTo>
                  <a:pt x="0" y="33359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52" r="-51" t="0"/>
            </a:stretch>
          </a:blipFill>
          <a:ln>
            <a:noFill/>
          </a:ln>
        </p:spPr>
      </p:sp>
      <p:sp>
        <p:nvSpPr>
          <p:cNvPr id="92" name="Google Shape;92;p1"/>
          <p:cNvSpPr txBox="1"/>
          <p:nvPr/>
        </p:nvSpPr>
        <p:spPr>
          <a:xfrm>
            <a:off x="6996582" y="8818782"/>
            <a:ext cx="355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Santiago, 23 de Agosto de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822029" y="6029189"/>
            <a:ext cx="59121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Ingeniería Civil Informática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Facultad de Ingeniería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822029" y="7141423"/>
            <a:ext cx="403443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Profesor: Paulo Quinsacara Jofré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6236989" y="1917724"/>
            <a:ext cx="11561752" cy="632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Arial"/>
              <a:buNone/>
            </a:pPr>
            <a:r>
              <a:rPr b="0" i="0" lang="en-US" sz="3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desarrollo del trabajo consiste en la creación de un sistema de gestión para Valgas e Hijo SpA, enfocado en el control de inventario, registro de ventas y administración de cilindros de gas. Utilizando la metodología 4+1 y el enfoque ágil Scrum++, se diseñó una solución modular que mejora la trazabilidad, optimiza procesos y apoya la toma de decisiones con reportes en tiempo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Arial"/>
              <a:buNone/>
            </a:pPr>
            <a:r>
              <a:rPr b="0" i="0" lang="en-US" sz="3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Además, el proyecto incorpora diagramas UML, documentación técnica detallada y un árbol de navegación, lo que permite visualizar la estructura y comportamiento del sistema implementado de forma clara y completa.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Arial"/>
              <a:buNone/>
            </a:pPr>
            <a:r>
              <a:t/>
            </a:r>
            <a:endParaRPr b="0" i="0" sz="3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688" l="0" r="0" t="-182688"/>
            </a:stretch>
          </a:blipFill>
          <a:ln>
            <a:noFill/>
          </a:ln>
        </p:spPr>
      </p:sp>
      <p:sp>
        <p:nvSpPr>
          <p:cNvPr id="101" name="Google Shape;101;p2"/>
          <p:cNvSpPr/>
          <p:nvPr/>
        </p:nvSpPr>
        <p:spPr>
          <a:xfrm>
            <a:off x="16719860" y="184379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0" l="0" r="0" t="-159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>
            <a:off x="490669" y="2707588"/>
            <a:ext cx="5321164" cy="5065748"/>
          </a:xfrm>
          <a:custGeom>
            <a:rect b="b" l="l" r="r" t="t"/>
            <a:pathLst>
              <a:path extrusionOk="0" h="5065748" w="5321164">
                <a:moveTo>
                  <a:pt x="0" y="0"/>
                </a:moveTo>
                <a:lnTo>
                  <a:pt x="5321164" y="0"/>
                </a:lnTo>
                <a:lnTo>
                  <a:pt x="5321164" y="5065747"/>
                </a:lnTo>
                <a:lnTo>
                  <a:pt x="0" y="5065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121" l="0" r="0" t="0"/>
            </a:stretch>
          </a:blipFill>
          <a:ln cap="sq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3" name="Google Shape;103;p2"/>
          <p:cNvSpPr txBox="1"/>
          <p:nvPr/>
        </p:nvSpPr>
        <p:spPr>
          <a:xfrm>
            <a:off x="190984" y="257369"/>
            <a:ext cx="9586722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0" i="0" lang="en-US" sz="4875" u="none" cap="none" strike="noStrike">
                <a:solidFill>
                  <a:srgbClr val="FFFEFF"/>
                </a:solidFill>
                <a:latin typeface="Roboto Slab"/>
                <a:ea typeface="Roboto Slab"/>
                <a:cs typeface="Roboto Slab"/>
                <a:sym typeface="Roboto Slab"/>
              </a:rPr>
              <a:t>Introducción</a:t>
            </a:r>
            <a:r>
              <a:rPr b="0" i="0" lang="en-US" sz="4875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0" y="0"/>
            <a:ext cx="18287988" cy="1204341"/>
          </a:xfrm>
          <a:custGeom>
            <a:rect b="b" l="l" r="r" t="t"/>
            <a:pathLst>
              <a:path extrusionOk="0" h="1605788" w="24383984">
                <a:moveTo>
                  <a:pt x="0" y="0"/>
                </a:moveTo>
                <a:lnTo>
                  <a:pt x="24383984" y="0"/>
                </a:lnTo>
                <a:lnTo>
                  <a:pt x="24383984" y="1605788"/>
                </a:lnTo>
                <a:lnTo>
                  <a:pt x="0" y="1605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8960" l="0" r="0" t="-188960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0" l="0" r="0" t="-159"/>
            </a:stretch>
          </a:blipFill>
          <a:ln>
            <a:noFill/>
          </a:ln>
        </p:spPr>
      </p:sp>
      <p:sp>
        <p:nvSpPr>
          <p:cNvPr id="110" name="Google Shape;110;p3"/>
          <p:cNvSpPr/>
          <p:nvPr/>
        </p:nvSpPr>
        <p:spPr>
          <a:xfrm>
            <a:off x="1501652" y="3527494"/>
            <a:ext cx="3264658" cy="3232012"/>
          </a:xfrm>
          <a:custGeom>
            <a:rect b="b" l="l" r="r" t="t"/>
            <a:pathLst>
              <a:path extrusionOk="0" h="3232012" w="3264658">
                <a:moveTo>
                  <a:pt x="0" y="0"/>
                </a:moveTo>
                <a:lnTo>
                  <a:pt x="3264658" y="0"/>
                </a:lnTo>
                <a:lnTo>
                  <a:pt x="3264658" y="3232012"/>
                </a:lnTo>
                <a:lnTo>
                  <a:pt x="0" y="3232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3"/>
          <p:cNvSpPr txBox="1"/>
          <p:nvPr/>
        </p:nvSpPr>
        <p:spPr>
          <a:xfrm>
            <a:off x="5941706" y="3860764"/>
            <a:ext cx="108447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49"/>
              <a:buFont typeface="Arial"/>
              <a:buNone/>
            </a:pPr>
            <a:r>
              <a:rPr b="0" i="0" lang="en-US" sz="32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Esta presentación detalla el diseño, desarrollo y despliegue de un sistema de gestión para Valgas e Hijo SpA. Su objetivo es optimizar el control de inventario, registro de ventas y administración de cilindros de gas, mejorando la trazabilidad y facilitando la toma de decisiones con reportes en tiempo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189323" y="253880"/>
            <a:ext cx="11609717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0" i="0" lang="en-US" sz="4875" u="none" cap="none" strike="noStrike">
                <a:solidFill>
                  <a:srgbClr val="FFFEFF"/>
                </a:solidFill>
                <a:latin typeface="Roboto Slab"/>
                <a:ea typeface="Roboto Slab"/>
                <a:cs typeface="Roboto Slab"/>
                <a:sym typeface="Roboto Slab"/>
              </a:rPr>
              <a:t>Sistema de Gestión Valgas e Hijo SpA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688" l="0" r="0" t="-182688"/>
            </a:stretch>
          </a:blipFill>
          <a:ln>
            <a:noFill/>
          </a:ln>
        </p:spPr>
      </p:sp>
      <p:sp>
        <p:nvSpPr>
          <p:cNvPr id="118" name="Google Shape;118;p4"/>
          <p:cNvSpPr txBox="1"/>
          <p:nvPr/>
        </p:nvSpPr>
        <p:spPr>
          <a:xfrm>
            <a:off x="221825" y="284163"/>
            <a:ext cx="13074474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0" i="0" lang="en-US" sz="4875" u="none" cap="none" strike="noStrike">
                <a:solidFill>
                  <a:srgbClr val="FFFEFF"/>
                </a:solidFill>
                <a:latin typeface="Roboto Slab"/>
                <a:ea typeface="Roboto Slab"/>
                <a:cs typeface="Roboto Slab"/>
                <a:sym typeface="Roboto Slab"/>
              </a:rPr>
              <a:t>Metodología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0" l="0" r="0" t="-159"/>
            </a:stretch>
          </a:blipFill>
          <a:ln>
            <a:noFill/>
          </a:ln>
        </p:spPr>
      </p:sp>
      <p:sp>
        <p:nvSpPr>
          <p:cNvPr descr="preencoded.png" id="120" name="Google Shape;120;p4"/>
          <p:cNvSpPr/>
          <p:nvPr/>
        </p:nvSpPr>
        <p:spPr>
          <a:xfrm>
            <a:off x="521616" y="3974304"/>
            <a:ext cx="643397" cy="643397"/>
          </a:xfrm>
          <a:custGeom>
            <a:rect b="b" l="l" r="r" t="t"/>
            <a:pathLst>
              <a:path extrusionOk="0" h="826897" w="826897">
                <a:moveTo>
                  <a:pt x="0" y="0"/>
                </a:moveTo>
                <a:lnTo>
                  <a:pt x="826897" y="0"/>
                </a:lnTo>
                <a:lnTo>
                  <a:pt x="826897" y="826897"/>
                </a:lnTo>
                <a:lnTo>
                  <a:pt x="0" y="826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4"/>
          <p:cNvSpPr/>
          <p:nvPr/>
        </p:nvSpPr>
        <p:spPr>
          <a:xfrm>
            <a:off x="513668" y="6442867"/>
            <a:ext cx="578869" cy="668990"/>
          </a:xfrm>
          <a:custGeom>
            <a:rect b="b" l="l" r="r" t="t"/>
            <a:pathLst>
              <a:path extrusionOk="0" h="859790" w="743966">
                <a:moveTo>
                  <a:pt x="0" y="91440"/>
                </a:moveTo>
                <a:cubicBezTo>
                  <a:pt x="0" y="40894"/>
                  <a:pt x="40894" y="0"/>
                  <a:pt x="91440" y="0"/>
                </a:cubicBezTo>
                <a:lnTo>
                  <a:pt x="652526" y="0"/>
                </a:lnTo>
                <a:cubicBezTo>
                  <a:pt x="703072" y="0"/>
                  <a:pt x="743966" y="40894"/>
                  <a:pt x="743966" y="91440"/>
                </a:cubicBezTo>
                <a:lnTo>
                  <a:pt x="743966" y="768350"/>
                </a:lnTo>
                <a:cubicBezTo>
                  <a:pt x="743966" y="818896"/>
                  <a:pt x="703072" y="859790"/>
                  <a:pt x="652526" y="859790"/>
                </a:cubicBezTo>
                <a:lnTo>
                  <a:pt x="91440" y="859790"/>
                </a:lnTo>
                <a:cubicBezTo>
                  <a:pt x="40894" y="859790"/>
                  <a:pt x="0" y="818896"/>
                  <a:pt x="0" y="768350"/>
                </a:cubicBezTo>
                <a:close/>
              </a:path>
            </a:pathLst>
          </a:custGeom>
          <a:solidFill>
            <a:srgbClr val="4D4D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22" name="Google Shape;122;p4"/>
          <p:cNvSpPr/>
          <p:nvPr/>
        </p:nvSpPr>
        <p:spPr>
          <a:xfrm>
            <a:off x="481552" y="6455682"/>
            <a:ext cx="643397" cy="643397"/>
          </a:xfrm>
          <a:custGeom>
            <a:rect b="b" l="l" r="r" t="t"/>
            <a:pathLst>
              <a:path extrusionOk="0" h="826897" w="826897">
                <a:moveTo>
                  <a:pt x="0" y="0"/>
                </a:moveTo>
                <a:lnTo>
                  <a:pt x="826897" y="0"/>
                </a:lnTo>
                <a:lnTo>
                  <a:pt x="826897" y="826897"/>
                </a:lnTo>
                <a:lnTo>
                  <a:pt x="0" y="826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3" name="Google Shape;123;p4"/>
          <p:cNvGrpSpPr/>
          <p:nvPr/>
        </p:nvGrpSpPr>
        <p:grpSpPr>
          <a:xfrm>
            <a:off x="1261248" y="1456958"/>
            <a:ext cx="2758513" cy="970300"/>
            <a:chOff x="0" y="-95250"/>
            <a:chExt cx="962439" cy="338536"/>
          </a:xfrm>
        </p:grpSpPr>
        <p:sp>
          <p:nvSpPr>
            <p:cNvPr id="124" name="Google Shape;124;p4"/>
            <p:cNvSpPr/>
            <p:nvPr/>
          </p:nvSpPr>
          <p:spPr>
            <a:xfrm>
              <a:off x="0" y="0"/>
              <a:ext cx="962439" cy="243286"/>
            </a:xfrm>
            <a:custGeom>
              <a:rect b="b" l="l" r="r" t="t"/>
              <a:pathLst>
                <a:path extrusionOk="0" h="243286" w="962439">
                  <a:moveTo>
                    <a:pt x="0" y="0"/>
                  </a:moveTo>
                  <a:lnTo>
                    <a:pt x="962439" y="0"/>
                  </a:lnTo>
                  <a:lnTo>
                    <a:pt x="962439" y="243286"/>
                  </a:lnTo>
                  <a:lnTo>
                    <a:pt x="0" y="243286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</p:sp>
        <p:sp>
          <p:nvSpPr>
            <p:cNvPr id="125" name="Google Shape;125;p4"/>
            <p:cNvSpPr txBox="1"/>
            <p:nvPr/>
          </p:nvSpPr>
          <p:spPr>
            <a:xfrm>
              <a:off x="0" y="-95250"/>
              <a:ext cx="962439" cy="338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3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4"/>
          <p:cNvGrpSpPr/>
          <p:nvPr/>
        </p:nvGrpSpPr>
        <p:grpSpPr>
          <a:xfrm>
            <a:off x="1306833" y="3577437"/>
            <a:ext cx="3397053" cy="1064968"/>
            <a:chOff x="0" y="-95250"/>
            <a:chExt cx="894697" cy="280485"/>
          </a:xfrm>
        </p:grpSpPr>
        <p:sp>
          <p:nvSpPr>
            <p:cNvPr id="127" name="Google Shape;127;p4"/>
            <p:cNvSpPr/>
            <p:nvPr/>
          </p:nvSpPr>
          <p:spPr>
            <a:xfrm>
              <a:off x="0" y="0"/>
              <a:ext cx="894697" cy="185235"/>
            </a:xfrm>
            <a:custGeom>
              <a:rect b="b" l="l" r="r" t="t"/>
              <a:pathLst>
                <a:path extrusionOk="0" h="185235" w="894697">
                  <a:moveTo>
                    <a:pt x="0" y="0"/>
                  </a:moveTo>
                  <a:lnTo>
                    <a:pt x="894697" y="0"/>
                  </a:lnTo>
                  <a:lnTo>
                    <a:pt x="894697" y="185235"/>
                  </a:lnTo>
                  <a:lnTo>
                    <a:pt x="0" y="185235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</p:sp>
        <p:sp>
          <p:nvSpPr>
            <p:cNvPr id="128" name="Google Shape;128;p4"/>
            <p:cNvSpPr txBox="1"/>
            <p:nvPr/>
          </p:nvSpPr>
          <p:spPr>
            <a:xfrm>
              <a:off x="0" y="-95250"/>
              <a:ext cx="894697" cy="280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3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4"/>
          <p:cNvGrpSpPr/>
          <p:nvPr/>
        </p:nvGrpSpPr>
        <p:grpSpPr>
          <a:xfrm>
            <a:off x="1306833" y="6018808"/>
            <a:ext cx="3519704" cy="1093081"/>
            <a:chOff x="0" y="-95250"/>
            <a:chExt cx="927000" cy="287889"/>
          </a:xfrm>
        </p:grpSpPr>
        <p:sp>
          <p:nvSpPr>
            <p:cNvPr id="130" name="Google Shape;130;p4"/>
            <p:cNvSpPr/>
            <p:nvPr/>
          </p:nvSpPr>
          <p:spPr>
            <a:xfrm>
              <a:off x="0" y="0"/>
              <a:ext cx="927000" cy="192639"/>
            </a:xfrm>
            <a:custGeom>
              <a:rect b="b" l="l" r="r" t="t"/>
              <a:pathLst>
                <a:path extrusionOk="0" h="192639" w="927000">
                  <a:moveTo>
                    <a:pt x="0" y="0"/>
                  </a:moveTo>
                  <a:lnTo>
                    <a:pt x="927000" y="0"/>
                  </a:lnTo>
                  <a:lnTo>
                    <a:pt x="927000" y="192639"/>
                  </a:lnTo>
                  <a:lnTo>
                    <a:pt x="0" y="192639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</p:sp>
        <p:sp>
          <p:nvSpPr>
            <p:cNvPr id="131" name="Google Shape;131;p4"/>
            <p:cNvSpPr txBox="1"/>
            <p:nvPr/>
          </p:nvSpPr>
          <p:spPr>
            <a:xfrm>
              <a:off x="0" y="-95250"/>
              <a:ext cx="927000" cy="2878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3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4"/>
          <p:cNvSpPr txBox="1"/>
          <p:nvPr/>
        </p:nvSpPr>
        <p:spPr>
          <a:xfrm>
            <a:off x="1454509" y="1841022"/>
            <a:ext cx="3217261" cy="492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8"/>
              <a:buFont typeface="Arial"/>
              <a:buNone/>
            </a:pPr>
            <a:r>
              <a:rPr b="0" i="0" lang="en-US" sz="3228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Scrum++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1261248" y="2420662"/>
            <a:ext cx="15949046" cy="1334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3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49"/>
              <a:buFont typeface="Arial"/>
              <a:buNone/>
            </a:pPr>
            <a:r>
              <a:rPr b="0" i="0" lang="en-US" sz="32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Combina principios iterativos de Scrum con el modelo arquitectónico 4+1, permitiendo un desarrollo ágil y estructurado.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1346897" y="4062339"/>
            <a:ext cx="3217261" cy="492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8"/>
              <a:buFont typeface="Arial"/>
              <a:buNone/>
            </a:pPr>
            <a:r>
              <a:rPr b="0" i="0" lang="en-US" sz="3228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Metodología 4+1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1261248" y="4748920"/>
            <a:ext cx="15949046" cy="1334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3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49"/>
              <a:buFont typeface="Arial"/>
              <a:buNone/>
            </a:pPr>
            <a:r>
              <a:rPr b="0" i="0" lang="en-US" sz="32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Representa el sistema desde múltiples perspectivas: lógica, de proceso, de desarrollo, física y externa, para una comprensión integral.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1458054" y="6490975"/>
            <a:ext cx="3217261" cy="500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8"/>
              <a:buFont typeface="Arial"/>
              <a:buNone/>
            </a:pPr>
            <a:r>
              <a:rPr b="0" i="0" lang="en-US" sz="3228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Diagramas UML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1261248" y="7102364"/>
            <a:ext cx="15949046" cy="1334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3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49"/>
              <a:buFont typeface="Arial"/>
              <a:buNone/>
            </a:pPr>
            <a:r>
              <a:rPr b="0" i="0" lang="en-US" sz="32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Incluye diagramas UML para visualizar el comportamiento y la estructura del sistema, junto con un árbol de navegación detallado.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38" name="Google Shape;138;p4"/>
          <p:cNvSpPr/>
          <p:nvPr/>
        </p:nvSpPr>
        <p:spPr>
          <a:xfrm>
            <a:off x="521616" y="1729960"/>
            <a:ext cx="643397" cy="643397"/>
          </a:xfrm>
          <a:custGeom>
            <a:rect b="b" l="l" r="r" t="t"/>
            <a:pathLst>
              <a:path extrusionOk="0" h="826897" w="826897">
                <a:moveTo>
                  <a:pt x="0" y="0"/>
                </a:moveTo>
                <a:lnTo>
                  <a:pt x="826897" y="0"/>
                </a:lnTo>
                <a:lnTo>
                  <a:pt x="826897" y="826897"/>
                </a:lnTo>
                <a:lnTo>
                  <a:pt x="0" y="826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688" l="0" r="0" t="-182688"/>
            </a:stretch>
          </a:blipFill>
          <a:ln>
            <a:noFill/>
          </a:ln>
        </p:spPr>
      </p:sp>
      <p:sp>
        <p:nvSpPr>
          <p:cNvPr id="144" name="Google Shape;144;p5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0" l="0" r="0" t="-159"/>
            </a:stretch>
          </a:blipFill>
          <a:ln>
            <a:noFill/>
          </a:ln>
        </p:spPr>
      </p:sp>
      <p:sp>
        <p:nvSpPr>
          <p:cNvPr id="145" name="Google Shape;145;p5"/>
          <p:cNvSpPr/>
          <p:nvPr/>
        </p:nvSpPr>
        <p:spPr>
          <a:xfrm>
            <a:off x="390323" y="4372991"/>
            <a:ext cx="1665156" cy="1598550"/>
          </a:xfrm>
          <a:custGeom>
            <a:rect b="b" l="l" r="r" t="t"/>
            <a:pathLst>
              <a:path extrusionOk="0" h="1598550" w="1665156">
                <a:moveTo>
                  <a:pt x="0" y="0"/>
                </a:moveTo>
                <a:lnTo>
                  <a:pt x="1665157" y="0"/>
                </a:lnTo>
                <a:lnTo>
                  <a:pt x="1665157" y="1598550"/>
                </a:lnTo>
                <a:lnTo>
                  <a:pt x="0" y="1598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5"/>
          <p:cNvSpPr/>
          <p:nvPr/>
        </p:nvSpPr>
        <p:spPr>
          <a:xfrm>
            <a:off x="329671" y="1810742"/>
            <a:ext cx="1786460" cy="1786460"/>
          </a:xfrm>
          <a:custGeom>
            <a:rect b="b" l="l" r="r" t="t"/>
            <a:pathLst>
              <a:path extrusionOk="0" h="1786460" w="1786460">
                <a:moveTo>
                  <a:pt x="0" y="0"/>
                </a:moveTo>
                <a:lnTo>
                  <a:pt x="1786461" y="0"/>
                </a:lnTo>
                <a:lnTo>
                  <a:pt x="1786461" y="1786461"/>
                </a:lnTo>
                <a:lnTo>
                  <a:pt x="0" y="17864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5"/>
          <p:cNvSpPr/>
          <p:nvPr/>
        </p:nvSpPr>
        <p:spPr>
          <a:xfrm>
            <a:off x="390323" y="6693097"/>
            <a:ext cx="1665156" cy="1596468"/>
          </a:xfrm>
          <a:custGeom>
            <a:rect b="b" l="l" r="r" t="t"/>
            <a:pathLst>
              <a:path extrusionOk="0" h="1596468" w="1665156">
                <a:moveTo>
                  <a:pt x="0" y="0"/>
                </a:moveTo>
                <a:lnTo>
                  <a:pt x="1665157" y="0"/>
                </a:lnTo>
                <a:lnTo>
                  <a:pt x="1665157" y="1596468"/>
                </a:lnTo>
                <a:lnTo>
                  <a:pt x="0" y="1596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5"/>
          <p:cNvSpPr txBox="1"/>
          <p:nvPr/>
        </p:nvSpPr>
        <p:spPr>
          <a:xfrm>
            <a:off x="170554" y="294680"/>
            <a:ext cx="12128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0" i="0" lang="en-US" sz="4875" u="none" cap="none" strike="noStrike">
                <a:solidFill>
                  <a:srgbClr val="FFFEFF"/>
                </a:solidFill>
                <a:latin typeface="Roboto Slab"/>
                <a:ea typeface="Roboto Slab"/>
                <a:cs typeface="Roboto Slab"/>
                <a:sym typeface="Roboto Slab"/>
              </a:rPr>
              <a:t>Propuesta de Solución e Incremento 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3008881" y="1986371"/>
            <a:ext cx="5998641" cy="529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9"/>
              <a:buFont typeface="Arial"/>
              <a:buNone/>
            </a:pPr>
            <a:r>
              <a:rPr b="1" i="0" lang="en-US" sz="3459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Plataforma Centralizada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3008881" y="2633612"/>
            <a:ext cx="11997282" cy="1334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3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49"/>
              <a:buFont typeface="Arial"/>
              <a:buNone/>
            </a:pPr>
            <a:r>
              <a:rPr b="0" i="0" lang="en-US" sz="32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Gestión integral del ciclo de operación de cilindros de gas, desde inventario hasta venta y trazabilidad.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3008881" y="4223612"/>
            <a:ext cx="5678223" cy="529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9"/>
              <a:buFont typeface="Arial"/>
              <a:buNone/>
            </a:pPr>
            <a:r>
              <a:rPr b="1" i="0" lang="en-US" sz="3459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Funcionalidades Clave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3008881" y="4819691"/>
            <a:ext cx="11997300" cy="13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3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49"/>
              <a:buFont typeface="Arial"/>
              <a:buNone/>
            </a:pPr>
            <a:r>
              <a:rPr b="0" i="0" lang="en-US" sz="32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 de usuarios, Pedidos, vehículos, creacion de chat interno, además de implementación de módulos de estadísticas y documentos.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3008881" y="6409691"/>
            <a:ext cx="4306414" cy="557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37"/>
              <a:buFont typeface="Arial"/>
              <a:buNone/>
            </a:pPr>
            <a:r>
              <a:rPr b="1" i="0" lang="en-US" sz="3637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Incremento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3145359" y="7204900"/>
            <a:ext cx="11997300" cy="13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3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49"/>
              <a:buFont typeface="Arial"/>
              <a:buNone/>
            </a:pPr>
            <a:r>
              <a:rPr b="0" i="0" lang="en-US" sz="32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Diseño, implementación y documentación de </a:t>
            </a:r>
            <a:r>
              <a:rPr lang="en-US" sz="3249"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0" lang="en-US" sz="32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casos de uso, cubriendo el </a:t>
            </a:r>
            <a:r>
              <a:rPr lang="en-US" sz="3249">
                <a:latin typeface="Calibri"/>
                <a:ea typeface="Calibri"/>
                <a:cs typeface="Calibri"/>
                <a:sym typeface="Calibri"/>
              </a:rPr>
              <a:t>95</a:t>
            </a:r>
            <a:r>
              <a:rPr b="0" i="0" lang="en-US" sz="32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del total del sistema.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0" y="0"/>
            <a:ext cx="18287988" cy="1204341"/>
          </a:xfrm>
          <a:custGeom>
            <a:rect b="b" l="l" r="r" t="t"/>
            <a:pathLst>
              <a:path extrusionOk="0" h="1605788" w="24383984">
                <a:moveTo>
                  <a:pt x="0" y="0"/>
                </a:moveTo>
                <a:lnTo>
                  <a:pt x="24383984" y="0"/>
                </a:lnTo>
                <a:lnTo>
                  <a:pt x="24383984" y="1605788"/>
                </a:lnTo>
                <a:lnTo>
                  <a:pt x="0" y="1605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8960" l="0" r="0" t="-188960"/>
            </a:stretch>
          </a:blipFill>
          <a:ln>
            <a:noFill/>
          </a:ln>
        </p:spPr>
      </p:sp>
      <p:sp>
        <p:nvSpPr>
          <p:cNvPr id="160" name="Google Shape;160;p7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0" l="0" r="0" t="-159"/>
            </a:stretch>
          </a:blipFill>
          <a:ln>
            <a:noFill/>
          </a:ln>
        </p:spPr>
      </p:sp>
      <p:sp>
        <p:nvSpPr>
          <p:cNvPr id="161" name="Google Shape;161;p7"/>
          <p:cNvSpPr txBox="1"/>
          <p:nvPr/>
        </p:nvSpPr>
        <p:spPr>
          <a:xfrm>
            <a:off x="204779" y="253880"/>
            <a:ext cx="8939221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Sprint Backlog y Planificación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5382232" y="1380418"/>
            <a:ext cx="4874100" cy="11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9"/>
              <a:buFont typeface="Arial"/>
              <a:buNone/>
            </a:pPr>
            <a:r>
              <a:rPr b="1" i="0" lang="en-US" sz="3459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Planificación del sprint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30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9"/>
              <a:buFont typeface="Arial"/>
              <a:buNone/>
            </a:pPr>
            <a:r>
              <a:t/>
            </a:r>
            <a:endParaRPr b="1" i="0" sz="3459" u="none" cap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11711200" y="6019575"/>
            <a:ext cx="36462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9"/>
              <a:buFont typeface="Arial"/>
              <a:buNone/>
            </a:pPr>
            <a:r>
              <a:rPr b="1" i="0" lang="en-US" sz="3459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Sprint Backlog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43995" y="7182129"/>
            <a:ext cx="8780601" cy="196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7600" y="2243385"/>
            <a:ext cx="14623226" cy="3289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/>
          <p:nvPr/>
        </p:nvSpPr>
        <p:spPr>
          <a:xfrm>
            <a:off x="0" y="0"/>
            <a:ext cx="18287988" cy="1204341"/>
          </a:xfrm>
          <a:custGeom>
            <a:rect b="b" l="l" r="r" t="t"/>
            <a:pathLst>
              <a:path extrusionOk="0" h="1605788" w="24383984">
                <a:moveTo>
                  <a:pt x="0" y="0"/>
                </a:moveTo>
                <a:lnTo>
                  <a:pt x="24383984" y="0"/>
                </a:lnTo>
                <a:lnTo>
                  <a:pt x="24383984" y="1605788"/>
                </a:lnTo>
                <a:lnTo>
                  <a:pt x="0" y="1605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8960" l="0" r="0" t="-188960"/>
            </a:stretch>
          </a:blipFill>
          <a:ln>
            <a:noFill/>
          </a:ln>
        </p:spPr>
      </p:sp>
      <p:sp>
        <p:nvSpPr>
          <p:cNvPr id="171" name="Google Shape;171;p8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0" l="0" r="0" t="-159"/>
            </a:stretch>
          </a:blipFill>
          <a:ln>
            <a:noFill/>
          </a:ln>
        </p:spPr>
      </p:sp>
      <p:sp>
        <p:nvSpPr>
          <p:cNvPr id="172" name="Google Shape;172;p8"/>
          <p:cNvSpPr txBox="1"/>
          <p:nvPr/>
        </p:nvSpPr>
        <p:spPr>
          <a:xfrm>
            <a:off x="0" y="171364"/>
            <a:ext cx="10527655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Diagrama de Clases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9163050" y="3394883"/>
            <a:ext cx="8985300" cy="4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diagrama de clases representa la estructura del sistema, mostrando las entidades principales como </a:t>
            </a: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Usuario, Pedido, Vehículo, Cliente, Cilindro e Historial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junto con sus atributos y relaciones. Permite visualizar cómo se conectan los distintos módulos, asegurando la coherencia en la gestión de pedidos, inventario, roles y reportes dentro de la aplicación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875" y="2300841"/>
            <a:ext cx="8858249" cy="6079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0" y="0"/>
            <a:ext cx="18396447" cy="1302714"/>
          </a:xfrm>
          <a:custGeom>
            <a:rect b="b" l="l" r="r" t="t"/>
            <a:pathLst>
              <a:path extrusionOk="0" h="1736952" w="24528597">
                <a:moveTo>
                  <a:pt x="0" y="0"/>
                </a:moveTo>
                <a:lnTo>
                  <a:pt x="24528597" y="0"/>
                </a:lnTo>
                <a:lnTo>
                  <a:pt x="24528597" y="1736952"/>
                </a:lnTo>
                <a:lnTo>
                  <a:pt x="0" y="17369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2175" l="0" r="0" t="-172170"/>
            </a:stretch>
          </a:blipFill>
          <a:ln>
            <a:noFill/>
          </a:ln>
        </p:spPr>
      </p:sp>
      <p:sp>
        <p:nvSpPr>
          <p:cNvPr id="180" name="Google Shape;180;p9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0" l="0" r="0" t="-159"/>
            </a:stretch>
          </a:blipFill>
          <a:ln>
            <a:noFill/>
          </a:ln>
        </p:spPr>
      </p:sp>
      <p:sp>
        <p:nvSpPr>
          <p:cNvPr id="181" name="Google Shape;181;p9"/>
          <p:cNvSpPr txBox="1"/>
          <p:nvPr/>
        </p:nvSpPr>
        <p:spPr>
          <a:xfrm>
            <a:off x="97735" y="253880"/>
            <a:ext cx="7249954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Modelo de Base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8562291" y="3464747"/>
            <a:ext cx="9027600" cy="4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8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modelo de base de datos refleja las tablas principales del sistema y sus relaciones, incluyendo </a:t>
            </a: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usuarios, pedidos, clientes, vehículos, cilindros e historial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Su diseño asegura integridad referencial y soporte a las funcionalidades clave, como gestión de entregas, notificaciones y reportes, permitiendo un almacenamiento estructurado y consultas eficientes.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725" y="2105289"/>
            <a:ext cx="8257490" cy="7513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 txBox="1"/>
          <p:nvPr/>
        </p:nvSpPr>
        <p:spPr>
          <a:xfrm>
            <a:off x="2400746" y="2787725"/>
            <a:ext cx="8069015" cy="498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4"/>
              <a:buFont typeface="Arial"/>
              <a:buNone/>
            </a:pPr>
            <a:r>
              <a:rPr b="0" i="0" lang="en-US" sz="237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HTML, CSS y JavaScript para la interacción directa con el usuario.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2400746" y="4739701"/>
            <a:ext cx="8069015" cy="974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4"/>
              <a:buFont typeface="Arial"/>
              <a:buNone/>
            </a:pPr>
            <a:r>
              <a:rPr b="0" i="0" lang="en-US" sz="237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Lógica de procesamiento en Node.js con Express.js, API REST, autenticación y controladores.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2400746" y="7261202"/>
            <a:ext cx="8069015" cy="498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4"/>
              <a:buFont typeface="Arial"/>
              <a:buNone/>
            </a:pPr>
            <a:r>
              <a:rPr b="0" i="0" lang="en-US" sz="237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 PostgreSQL para almacenar usuarios, inventario y registros.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688" l="0" r="0" t="-182688"/>
            </a:stretch>
          </a:blipFill>
          <a:ln>
            <a:noFill/>
          </a:ln>
        </p:spPr>
      </p:sp>
      <p:sp>
        <p:nvSpPr>
          <p:cNvPr id="192" name="Google Shape;192;p17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0" l="0" r="0" t="-159"/>
            </a:stretch>
          </a:blipFill>
          <a:ln>
            <a:noFill/>
          </a:ln>
        </p:spPr>
      </p:sp>
      <p:grpSp>
        <p:nvGrpSpPr>
          <p:cNvPr id="193" name="Google Shape;193;p17"/>
          <p:cNvGrpSpPr/>
          <p:nvPr/>
        </p:nvGrpSpPr>
        <p:grpSpPr>
          <a:xfrm rot="5400000">
            <a:off x="657279" y="2217620"/>
            <a:ext cx="2060286" cy="1711709"/>
            <a:chOff x="0" y="-142875"/>
            <a:chExt cx="812800" cy="675283"/>
          </a:xfrm>
        </p:grpSpPr>
        <p:sp>
          <p:nvSpPr>
            <p:cNvPr id="194" name="Google Shape;194;p17"/>
            <p:cNvSpPr/>
            <p:nvPr/>
          </p:nvSpPr>
          <p:spPr>
            <a:xfrm>
              <a:off x="0" y="0"/>
              <a:ext cx="812800" cy="532408"/>
            </a:xfrm>
            <a:custGeom>
              <a:rect b="b" l="l" r="r" t="t"/>
              <a:pathLst>
                <a:path extrusionOk="0" h="532408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66204"/>
                  </a:lnTo>
                  <a:lnTo>
                    <a:pt x="609600" y="532408"/>
                  </a:lnTo>
                  <a:lnTo>
                    <a:pt x="0" y="532408"/>
                  </a:lnTo>
                  <a:lnTo>
                    <a:pt x="203200" y="2662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</p:sp>
        <p:sp>
          <p:nvSpPr>
            <p:cNvPr id="195" name="Google Shape;195;p17"/>
            <p:cNvSpPr txBox="1"/>
            <p:nvPr/>
          </p:nvSpPr>
          <p:spPr>
            <a:xfrm>
              <a:off x="177800" y="-142875"/>
              <a:ext cx="558800" cy="67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9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" name="Google Shape;196;p17"/>
          <p:cNvGrpSpPr/>
          <p:nvPr/>
        </p:nvGrpSpPr>
        <p:grpSpPr>
          <a:xfrm rot="5400000">
            <a:off x="657279" y="4410698"/>
            <a:ext cx="2060286" cy="1711709"/>
            <a:chOff x="0" y="-142875"/>
            <a:chExt cx="812800" cy="675283"/>
          </a:xfrm>
        </p:grpSpPr>
        <p:sp>
          <p:nvSpPr>
            <p:cNvPr id="197" name="Google Shape;197;p17"/>
            <p:cNvSpPr/>
            <p:nvPr/>
          </p:nvSpPr>
          <p:spPr>
            <a:xfrm>
              <a:off x="0" y="0"/>
              <a:ext cx="812800" cy="532408"/>
            </a:xfrm>
            <a:custGeom>
              <a:rect b="b" l="l" r="r" t="t"/>
              <a:pathLst>
                <a:path extrusionOk="0" h="532408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66204"/>
                  </a:lnTo>
                  <a:lnTo>
                    <a:pt x="609600" y="532408"/>
                  </a:lnTo>
                  <a:lnTo>
                    <a:pt x="0" y="532408"/>
                  </a:lnTo>
                  <a:lnTo>
                    <a:pt x="203200" y="2662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</p:sp>
        <p:sp>
          <p:nvSpPr>
            <p:cNvPr id="198" name="Google Shape;198;p17"/>
            <p:cNvSpPr txBox="1"/>
            <p:nvPr/>
          </p:nvSpPr>
          <p:spPr>
            <a:xfrm>
              <a:off x="177800" y="-142875"/>
              <a:ext cx="558800" cy="67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9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" name="Google Shape;199;p17"/>
          <p:cNvGrpSpPr/>
          <p:nvPr/>
        </p:nvGrpSpPr>
        <p:grpSpPr>
          <a:xfrm rot="5400000">
            <a:off x="657279" y="6585880"/>
            <a:ext cx="2060286" cy="1711709"/>
            <a:chOff x="0" y="-142875"/>
            <a:chExt cx="812800" cy="675283"/>
          </a:xfrm>
        </p:grpSpPr>
        <p:sp>
          <p:nvSpPr>
            <p:cNvPr id="200" name="Google Shape;200;p17"/>
            <p:cNvSpPr/>
            <p:nvPr/>
          </p:nvSpPr>
          <p:spPr>
            <a:xfrm>
              <a:off x="0" y="0"/>
              <a:ext cx="812800" cy="532408"/>
            </a:xfrm>
            <a:custGeom>
              <a:rect b="b" l="l" r="r" t="t"/>
              <a:pathLst>
                <a:path extrusionOk="0" h="532408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66204"/>
                  </a:lnTo>
                  <a:lnTo>
                    <a:pt x="609600" y="532408"/>
                  </a:lnTo>
                  <a:lnTo>
                    <a:pt x="0" y="532408"/>
                  </a:lnTo>
                  <a:lnTo>
                    <a:pt x="203200" y="2662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</p:sp>
        <p:sp>
          <p:nvSpPr>
            <p:cNvPr id="201" name="Google Shape;201;p17"/>
            <p:cNvSpPr txBox="1"/>
            <p:nvPr/>
          </p:nvSpPr>
          <p:spPr>
            <a:xfrm>
              <a:off x="177800" y="-142875"/>
              <a:ext cx="558800" cy="67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9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17"/>
          <p:cNvSpPr/>
          <p:nvPr/>
        </p:nvSpPr>
        <p:spPr>
          <a:xfrm>
            <a:off x="1238952" y="2789115"/>
            <a:ext cx="534780" cy="770854"/>
          </a:xfrm>
          <a:custGeom>
            <a:rect b="b" l="l" r="r" t="t"/>
            <a:pathLst>
              <a:path extrusionOk="0" h="770854" w="534780">
                <a:moveTo>
                  <a:pt x="0" y="0"/>
                </a:moveTo>
                <a:lnTo>
                  <a:pt x="534780" y="0"/>
                </a:lnTo>
                <a:lnTo>
                  <a:pt x="534780" y="770854"/>
                </a:lnTo>
                <a:lnTo>
                  <a:pt x="0" y="770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17"/>
          <p:cNvSpPr/>
          <p:nvPr/>
        </p:nvSpPr>
        <p:spPr>
          <a:xfrm>
            <a:off x="1141768" y="4913243"/>
            <a:ext cx="729149" cy="815831"/>
          </a:xfrm>
          <a:custGeom>
            <a:rect b="b" l="l" r="r" t="t"/>
            <a:pathLst>
              <a:path extrusionOk="0" h="815831" w="729149">
                <a:moveTo>
                  <a:pt x="0" y="0"/>
                </a:moveTo>
                <a:lnTo>
                  <a:pt x="729149" y="0"/>
                </a:lnTo>
                <a:lnTo>
                  <a:pt x="729149" y="815831"/>
                </a:lnTo>
                <a:lnTo>
                  <a:pt x="0" y="8158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17"/>
          <p:cNvSpPr/>
          <p:nvPr/>
        </p:nvSpPr>
        <p:spPr>
          <a:xfrm>
            <a:off x="1141768" y="7106321"/>
            <a:ext cx="758943" cy="939868"/>
          </a:xfrm>
          <a:custGeom>
            <a:rect b="b" l="l" r="r" t="t"/>
            <a:pathLst>
              <a:path extrusionOk="0" h="939868" w="758943">
                <a:moveTo>
                  <a:pt x="0" y="0"/>
                </a:moveTo>
                <a:lnTo>
                  <a:pt x="758943" y="0"/>
                </a:lnTo>
                <a:lnTo>
                  <a:pt x="758943" y="939868"/>
                </a:lnTo>
                <a:lnTo>
                  <a:pt x="0" y="9398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17"/>
          <p:cNvSpPr txBox="1"/>
          <p:nvPr/>
        </p:nvSpPr>
        <p:spPr>
          <a:xfrm>
            <a:off x="2400746" y="2392437"/>
            <a:ext cx="3001119" cy="423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12"/>
              <a:buFont typeface="Arial"/>
              <a:buNone/>
            </a:pPr>
            <a:r>
              <a:rPr b="1" i="0" lang="en-US" sz="2712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Capa Visual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2400746" y="4368875"/>
            <a:ext cx="3001119" cy="423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12"/>
              <a:buFont typeface="Arial"/>
              <a:buNone/>
            </a:pPr>
            <a:r>
              <a:rPr b="1" i="0" lang="en-US" sz="2712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Capa logica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2400752" y="6551975"/>
            <a:ext cx="48138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12"/>
              <a:buFont typeface="Arial"/>
              <a:buNone/>
            </a:pPr>
            <a:r>
              <a:rPr b="1" i="0" lang="en-US" sz="2712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Capa de acceso a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831568" y="8579559"/>
            <a:ext cx="12905021" cy="144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4"/>
              <a:buFont typeface="Arial"/>
              <a:buNone/>
            </a:pPr>
            <a:r>
              <a:rPr b="0" i="0" lang="en-US" sz="237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Vista de Desarrollo describe la arquitectura del sistema en capas cliente-servidor. El Frontend gestiona la interfaz de usuario, el Backend procesa la lógica de negocio y se comunica con servicios externos como Nodemailer, y la Base de Datos PostgreSQL asegura la persistencia de la información.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163415" y="248529"/>
            <a:ext cx="15447941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Vista de Desarrollo: Diagrama de arquitectura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28236" y="3113277"/>
            <a:ext cx="7513439" cy="4060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/>
          <p:nvPr/>
        </p:nvSpPr>
        <p:spPr>
          <a:xfrm>
            <a:off x="0" y="0"/>
            <a:ext cx="18287988" cy="1204341"/>
          </a:xfrm>
          <a:custGeom>
            <a:rect b="b" l="l" r="r" t="t"/>
            <a:pathLst>
              <a:path extrusionOk="0" h="1605788" w="24383984">
                <a:moveTo>
                  <a:pt x="0" y="0"/>
                </a:moveTo>
                <a:lnTo>
                  <a:pt x="24383984" y="0"/>
                </a:lnTo>
                <a:lnTo>
                  <a:pt x="24383984" y="1605788"/>
                </a:lnTo>
                <a:lnTo>
                  <a:pt x="0" y="1605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8960" l="0" r="0" t="-188960"/>
            </a:stretch>
          </a:blipFill>
          <a:ln>
            <a:noFill/>
          </a:ln>
        </p:spPr>
      </p:sp>
      <p:sp>
        <p:nvSpPr>
          <p:cNvPr id="216" name="Google Shape;216;p18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0" l="0" r="0" t="-159"/>
            </a:stretch>
          </a:blipFill>
          <a:ln>
            <a:noFill/>
          </a:ln>
        </p:spPr>
      </p:sp>
      <p:grpSp>
        <p:nvGrpSpPr>
          <p:cNvPr id="217" name="Google Shape;217;p18"/>
          <p:cNvGrpSpPr/>
          <p:nvPr/>
        </p:nvGrpSpPr>
        <p:grpSpPr>
          <a:xfrm>
            <a:off x="10150261" y="6259567"/>
            <a:ext cx="3086100" cy="1273257"/>
            <a:chOff x="0" y="-142875"/>
            <a:chExt cx="812800" cy="335343"/>
          </a:xfrm>
        </p:grpSpPr>
        <p:sp>
          <p:nvSpPr>
            <p:cNvPr id="218" name="Google Shape;218;p18"/>
            <p:cNvSpPr/>
            <p:nvPr/>
          </p:nvSpPr>
          <p:spPr>
            <a:xfrm>
              <a:off x="0" y="0"/>
              <a:ext cx="812800" cy="192468"/>
            </a:xfrm>
            <a:custGeom>
              <a:rect b="b" l="l" r="r" t="t"/>
              <a:pathLst>
                <a:path extrusionOk="0" h="19246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92468"/>
                  </a:lnTo>
                  <a:lnTo>
                    <a:pt x="0" y="192468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</p:sp>
        <p:sp>
          <p:nvSpPr>
            <p:cNvPr id="219" name="Google Shape;219;p18"/>
            <p:cNvSpPr txBox="1"/>
            <p:nvPr/>
          </p:nvSpPr>
          <p:spPr>
            <a:xfrm>
              <a:off x="0" y="-142875"/>
              <a:ext cx="812800" cy="335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9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18"/>
          <p:cNvSpPr txBox="1"/>
          <p:nvPr/>
        </p:nvSpPr>
        <p:spPr>
          <a:xfrm>
            <a:off x="247386" y="225133"/>
            <a:ext cx="9902875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Diagrama de Componentes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10135141" y="2380353"/>
            <a:ext cx="7500266" cy="168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2"/>
              <a:buFont typeface="Arial"/>
              <a:buNone/>
            </a:pPr>
            <a:r>
              <a:rPr b="0" i="0" lang="en-US" sz="256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capa visual del sistema, compuesta por archivos HTML, CSS y JavaScript, agrupados bajo el bloque "Vistas". Se comunica con el backend enviando solicitudes HTTP/JSON para la interacción del usuario.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2"/>
              <a:buFont typeface="Arial"/>
              <a:buNone/>
            </a:pPr>
            <a:r>
              <a:t/>
            </a:r>
            <a:endParaRPr b="0" i="0" sz="25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10135141" y="4289033"/>
            <a:ext cx="7598847" cy="2332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2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2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2"/>
              <a:buFont typeface="Arial"/>
              <a:buNone/>
            </a:pPr>
            <a:r>
              <a:rPr b="0" i="0" lang="en-US" sz="256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Contiene la API REST (Node.js y Express), middleware de autenticación y controladores para la lógica de negocio. Incluye el servicio Nodemailer.js para envío de correos, gestionando las operaciones del sistema.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2"/>
              <a:buFont typeface="Arial"/>
              <a:buNone/>
            </a:pPr>
            <a:r>
              <a:t/>
            </a:r>
            <a:endParaRPr b="0" i="0" sz="25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10194920" y="6986460"/>
            <a:ext cx="7788420" cy="2332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2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2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2"/>
              <a:buFont typeface="Arial"/>
              <a:buNone/>
            </a:pPr>
            <a:r>
              <a:rPr b="0" i="0" lang="en-US" sz="256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Ubicada a la derecha inferior, la base de datos PostgreSQL es accedida directamente por los controladores para almacenar y recuperar toda la información del sistema de manera eficiente y segura.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2"/>
              <a:buFont typeface="Arial"/>
              <a:buNone/>
            </a:pPr>
            <a:r>
              <a:t/>
            </a:r>
            <a:endParaRPr b="0" i="0" sz="25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10203947" y="6845400"/>
            <a:ext cx="25500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2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7"/>
              <a:buFont typeface="Arial"/>
              <a:buNone/>
            </a:pPr>
            <a:r>
              <a:rPr b="1" i="0" lang="en-US" sz="2837" u="none" cap="none" strike="noStrike">
                <a:solidFill>
                  <a:srgbClr val="FDFDFD"/>
                </a:solidFill>
                <a:latin typeface="Calibri"/>
                <a:ea typeface="Calibri"/>
                <a:cs typeface="Calibri"/>
                <a:sym typeface="Calibri"/>
              </a:rPr>
              <a:t>Capa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18"/>
          <p:cNvGrpSpPr/>
          <p:nvPr/>
        </p:nvGrpSpPr>
        <p:grpSpPr>
          <a:xfrm>
            <a:off x="10135141" y="3562674"/>
            <a:ext cx="3086100" cy="1210799"/>
            <a:chOff x="0" y="-142875"/>
            <a:chExt cx="882812" cy="346362"/>
          </a:xfrm>
        </p:grpSpPr>
        <p:sp>
          <p:nvSpPr>
            <p:cNvPr id="226" name="Google Shape;226;p18"/>
            <p:cNvSpPr/>
            <p:nvPr/>
          </p:nvSpPr>
          <p:spPr>
            <a:xfrm>
              <a:off x="0" y="0"/>
              <a:ext cx="882812" cy="203487"/>
            </a:xfrm>
            <a:custGeom>
              <a:rect b="b" l="l" r="r" t="t"/>
              <a:pathLst>
                <a:path extrusionOk="0" h="203487" w="882812">
                  <a:moveTo>
                    <a:pt x="0" y="0"/>
                  </a:moveTo>
                  <a:lnTo>
                    <a:pt x="882812" y="0"/>
                  </a:lnTo>
                  <a:lnTo>
                    <a:pt x="882812" y="203487"/>
                  </a:lnTo>
                  <a:lnTo>
                    <a:pt x="0" y="203487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</p:sp>
        <p:sp>
          <p:nvSpPr>
            <p:cNvPr id="227" name="Google Shape;227;p18"/>
            <p:cNvSpPr txBox="1"/>
            <p:nvPr/>
          </p:nvSpPr>
          <p:spPr>
            <a:xfrm>
              <a:off x="0" y="-142875"/>
              <a:ext cx="882812" cy="346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9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18"/>
          <p:cNvSpPr txBox="1"/>
          <p:nvPr/>
        </p:nvSpPr>
        <p:spPr>
          <a:xfrm>
            <a:off x="10150238" y="4100747"/>
            <a:ext cx="2657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2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7"/>
              <a:buFont typeface="Arial"/>
              <a:buNone/>
            </a:pPr>
            <a:r>
              <a:rPr b="1" i="0" lang="en-US" sz="2837" u="none" cap="none" strike="noStrike">
                <a:solidFill>
                  <a:srgbClr val="FDFDFD"/>
                </a:solidFill>
                <a:latin typeface="Calibri"/>
                <a:ea typeface="Calibri"/>
                <a:cs typeface="Calibri"/>
                <a:sym typeface="Calibri"/>
              </a:rPr>
              <a:t>Capa Lógica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9" name="Google Shape;229;p18"/>
          <p:cNvGrpSpPr/>
          <p:nvPr/>
        </p:nvGrpSpPr>
        <p:grpSpPr>
          <a:xfrm>
            <a:off x="10135141" y="992892"/>
            <a:ext cx="3086134" cy="1210812"/>
            <a:chOff x="0" y="-142875"/>
            <a:chExt cx="882812" cy="346362"/>
          </a:xfrm>
        </p:grpSpPr>
        <p:sp>
          <p:nvSpPr>
            <p:cNvPr id="230" name="Google Shape;230;p18"/>
            <p:cNvSpPr/>
            <p:nvPr/>
          </p:nvSpPr>
          <p:spPr>
            <a:xfrm>
              <a:off x="0" y="0"/>
              <a:ext cx="882812" cy="203487"/>
            </a:xfrm>
            <a:custGeom>
              <a:rect b="b" l="l" r="r" t="t"/>
              <a:pathLst>
                <a:path extrusionOk="0" h="203487" w="882812">
                  <a:moveTo>
                    <a:pt x="0" y="0"/>
                  </a:moveTo>
                  <a:lnTo>
                    <a:pt x="882812" y="0"/>
                  </a:lnTo>
                  <a:lnTo>
                    <a:pt x="882812" y="203487"/>
                  </a:lnTo>
                  <a:lnTo>
                    <a:pt x="0" y="203487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</p:sp>
        <p:sp>
          <p:nvSpPr>
            <p:cNvPr id="231" name="Google Shape;231;p18"/>
            <p:cNvSpPr txBox="1"/>
            <p:nvPr/>
          </p:nvSpPr>
          <p:spPr>
            <a:xfrm>
              <a:off x="0" y="-142875"/>
              <a:ext cx="882812" cy="346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9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18"/>
          <p:cNvSpPr txBox="1"/>
          <p:nvPr/>
        </p:nvSpPr>
        <p:spPr>
          <a:xfrm>
            <a:off x="10135147" y="1456625"/>
            <a:ext cx="2966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2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7"/>
              <a:buFont typeface="Arial"/>
              <a:buNone/>
            </a:pPr>
            <a:r>
              <a:rPr b="1" i="0" lang="en-US" sz="2837" u="none" cap="none" strike="noStrike">
                <a:solidFill>
                  <a:srgbClr val="FDFDFD"/>
                </a:solidFill>
                <a:latin typeface="Calibri"/>
                <a:ea typeface="Calibri"/>
                <a:cs typeface="Calibri"/>
                <a:sym typeface="Calibri"/>
              </a:rPr>
              <a:t>Capa visual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475" y="2845401"/>
            <a:ext cx="9657750" cy="52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19"/>
          <p:cNvGrpSpPr/>
          <p:nvPr/>
        </p:nvGrpSpPr>
        <p:grpSpPr>
          <a:xfrm>
            <a:off x="7314813" y="2422326"/>
            <a:ext cx="810765" cy="810765"/>
            <a:chOff x="0" y="0"/>
            <a:chExt cx="756793" cy="756793"/>
          </a:xfrm>
        </p:grpSpPr>
        <p:sp>
          <p:nvSpPr>
            <p:cNvPr id="239" name="Google Shape;239;p19"/>
            <p:cNvSpPr/>
            <p:nvPr/>
          </p:nvSpPr>
          <p:spPr>
            <a:xfrm>
              <a:off x="6350" y="6350"/>
              <a:ext cx="744093" cy="744093"/>
            </a:xfrm>
            <a:custGeom>
              <a:rect b="b" l="l" r="r" t="t"/>
              <a:pathLst>
                <a:path extrusionOk="0" h="744093" w="744093">
                  <a:moveTo>
                    <a:pt x="0" y="138938"/>
                  </a:moveTo>
                  <a:cubicBezTo>
                    <a:pt x="0" y="62230"/>
                    <a:pt x="62230" y="0"/>
                    <a:pt x="138938" y="0"/>
                  </a:cubicBezTo>
                  <a:lnTo>
                    <a:pt x="605155" y="0"/>
                  </a:lnTo>
                  <a:cubicBezTo>
                    <a:pt x="681990" y="0"/>
                    <a:pt x="744093" y="62230"/>
                    <a:pt x="744093" y="138938"/>
                  </a:cubicBezTo>
                  <a:lnTo>
                    <a:pt x="744093" y="605155"/>
                  </a:lnTo>
                  <a:cubicBezTo>
                    <a:pt x="744093" y="681863"/>
                    <a:pt x="681863" y="744093"/>
                    <a:pt x="605155" y="744093"/>
                  </a:cubicBezTo>
                  <a:lnTo>
                    <a:pt x="138938" y="744093"/>
                  </a:lnTo>
                  <a:cubicBezTo>
                    <a:pt x="62230" y="744093"/>
                    <a:pt x="0" y="681990"/>
                    <a:pt x="0" y="605155"/>
                  </a:cubicBez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0" y="0"/>
              <a:ext cx="756793" cy="756793"/>
            </a:xfrm>
            <a:custGeom>
              <a:rect b="b" l="l" r="r" t="t"/>
              <a:pathLst>
                <a:path extrusionOk="0" h="756793" w="756793">
                  <a:moveTo>
                    <a:pt x="0" y="145288"/>
                  </a:moveTo>
                  <a:cubicBezTo>
                    <a:pt x="0" y="65024"/>
                    <a:pt x="65024" y="0"/>
                    <a:pt x="145288" y="0"/>
                  </a:cubicBezTo>
                  <a:lnTo>
                    <a:pt x="611505" y="0"/>
                  </a:lnTo>
                  <a:lnTo>
                    <a:pt x="611505" y="6350"/>
                  </a:lnTo>
                  <a:lnTo>
                    <a:pt x="611505" y="0"/>
                  </a:lnTo>
                  <a:cubicBezTo>
                    <a:pt x="691769" y="0"/>
                    <a:pt x="756793" y="65024"/>
                    <a:pt x="756793" y="145288"/>
                  </a:cubicBezTo>
                  <a:lnTo>
                    <a:pt x="750443" y="145288"/>
                  </a:lnTo>
                  <a:lnTo>
                    <a:pt x="756793" y="145288"/>
                  </a:lnTo>
                  <a:lnTo>
                    <a:pt x="756793" y="611505"/>
                  </a:lnTo>
                  <a:lnTo>
                    <a:pt x="750443" y="611505"/>
                  </a:lnTo>
                  <a:lnTo>
                    <a:pt x="756793" y="611505"/>
                  </a:lnTo>
                  <a:cubicBezTo>
                    <a:pt x="756793" y="691769"/>
                    <a:pt x="691769" y="756793"/>
                    <a:pt x="611505" y="756793"/>
                  </a:cubicBezTo>
                  <a:lnTo>
                    <a:pt x="611505" y="750443"/>
                  </a:lnTo>
                  <a:lnTo>
                    <a:pt x="611505" y="756793"/>
                  </a:lnTo>
                  <a:lnTo>
                    <a:pt x="145288" y="756793"/>
                  </a:lnTo>
                  <a:lnTo>
                    <a:pt x="145288" y="750443"/>
                  </a:lnTo>
                  <a:lnTo>
                    <a:pt x="145288" y="756793"/>
                  </a:lnTo>
                  <a:cubicBezTo>
                    <a:pt x="65024" y="756793"/>
                    <a:pt x="0" y="691769"/>
                    <a:pt x="0" y="611505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611505"/>
                  </a:lnTo>
                  <a:lnTo>
                    <a:pt x="6350" y="611505"/>
                  </a:lnTo>
                  <a:lnTo>
                    <a:pt x="12700" y="611505"/>
                  </a:lnTo>
                  <a:cubicBezTo>
                    <a:pt x="12700" y="684784"/>
                    <a:pt x="72009" y="744093"/>
                    <a:pt x="145288" y="744093"/>
                  </a:cubicBezTo>
                  <a:lnTo>
                    <a:pt x="611505" y="744093"/>
                  </a:lnTo>
                  <a:cubicBezTo>
                    <a:pt x="684784" y="744093"/>
                    <a:pt x="744093" y="684784"/>
                    <a:pt x="744093" y="611505"/>
                  </a:cubicBezTo>
                  <a:lnTo>
                    <a:pt x="744093" y="145288"/>
                  </a:lnTo>
                  <a:cubicBezTo>
                    <a:pt x="744093" y="72009"/>
                    <a:pt x="684784" y="12700"/>
                    <a:pt x="611505" y="12700"/>
                  </a:cubicBezTo>
                  <a:lnTo>
                    <a:pt x="145288" y="12700"/>
                  </a:lnTo>
                  <a:lnTo>
                    <a:pt x="145288" y="6350"/>
                  </a:lnTo>
                  <a:lnTo>
                    <a:pt x="145288" y="12700"/>
                  </a:lnTo>
                  <a:cubicBezTo>
                    <a:pt x="72009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DDD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" name="Google Shape;241;p19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688" l="0" r="0" t="-182688"/>
            </a:stretch>
          </a:blipFill>
          <a:ln>
            <a:noFill/>
          </a:ln>
        </p:spPr>
      </p:sp>
      <p:sp>
        <p:nvSpPr>
          <p:cNvPr id="242" name="Google Shape;242;p19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0" l="0" r="0" t="-159"/>
            </a:stretch>
          </a:blipFill>
          <a:ln>
            <a:noFill/>
          </a:ln>
        </p:spPr>
      </p:sp>
      <p:sp>
        <p:nvSpPr>
          <p:cNvPr id="243" name="Google Shape;243;p19"/>
          <p:cNvSpPr txBox="1"/>
          <p:nvPr/>
        </p:nvSpPr>
        <p:spPr>
          <a:xfrm>
            <a:off x="724867" y="213795"/>
            <a:ext cx="14103109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Vista Física: Diagrama de Despliegue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7534186" y="2642741"/>
            <a:ext cx="372070" cy="417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4"/>
              <a:buFont typeface="Arial"/>
              <a:buNone/>
            </a:pPr>
            <a:r>
              <a:rPr b="0" i="0" lang="en-US" sz="2874" u="none" cap="none" strike="noStrike">
                <a:solidFill>
                  <a:srgbClr val="FDFDF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8247221" y="2530799"/>
            <a:ext cx="3101131" cy="529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9"/>
              <a:buFont typeface="Arial"/>
              <a:buNone/>
            </a:pPr>
            <a:r>
              <a:rPr b="1" i="0" lang="en-US" sz="3459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PC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8247221" y="3008486"/>
            <a:ext cx="8639472" cy="1623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3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7"/>
              <a:buFont typeface="Arial"/>
              <a:buNone/>
            </a:pPr>
            <a:r>
              <a:rPr b="0" i="0" lang="en-US" sz="2637" u="none" cap="none" strike="noStrike">
                <a:solidFill>
                  <a:srgbClr val="454240"/>
                </a:solidFill>
                <a:latin typeface="Calibri"/>
                <a:ea typeface="Calibri"/>
                <a:cs typeface="Calibri"/>
                <a:sym typeface="Calibri"/>
              </a:rPr>
              <a:t>Representa a los actores del sistema (Administrador, Jefe de Bodega) que acceden mediante navegador web para realizar acciones como iniciar sesión o gestionar productos.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8247221" y="4932982"/>
            <a:ext cx="3101131" cy="529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9"/>
              <a:buFont typeface="Arial"/>
              <a:buNone/>
            </a:pPr>
            <a:r>
              <a:rPr b="1" i="0" lang="en-US" sz="3459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Servidor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8247221" y="5415750"/>
            <a:ext cx="8639472" cy="1623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3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7"/>
              <a:buFont typeface="Arial"/>
              <a:buNone/>
            </a:pPr>
            <a:r>
              <a:rPr b="0" i="0" lang="en-US" sz="2637" u="none" cap="none" strike="noStrike">
                <a:solidFill>
                  <a:srgbClr val="454240"/>
                </a:solidFill>
                <a:latin typeface="Calibri"/>
                <a:ea typeface="Calibri"/>
                <a:cs typeface="Calibri"/>
                <a:sym typeface="Calibri"/>
              </a:rPr>
              <a:t>Basado en Node.js y Express, alberga el backend y la lógica de negocio. Gestiona la autenticación con tokens JWT y organiza la lógica mediante controladores y middleware.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8247221" y="7241603"/>
            <a:ext cx="3101131" cy="529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9"/>
              <a:buFont typeface="Arial"/>
              <a:buNone/>
            </a:pPr>
            <a:r>
              <a:rPr b="1" i="0" lang="en-US" sz="3459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Base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8247221" y="7723382"/>
            <a:ext cx="8639472" cy="215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3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7"/>
              <a:buFont typeface="Arial"/>
              <a:buNone/>
            </a:pPr>
            <a:r>
              <a:rPr b="0" i="0" lang="en-US" sz="2637" u="none" cap="none" strike="noStrike">
                <a:solidFill>
                  <a:srgbClr val="454240"/>
                </a:solidFill>
                <a:latin typeface="Calibri"/>
                <a:ea typeface="Calibri"/>
                <a:cs typeface="Calibri"/>
                <a:sym typeface="Calibri"/>
              </a:rPr>
              <a:t>PostgreSQL almacena toda la información del sistema, incluyendo usuarios, productos e inventario. Se accede desde el servidor mediante conexión TCP, asegurando la persistencia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1" name="Google Shape;251;p19"/>
          <p:cNvGrpSpPr/>
          <p:nvPr/>
        </p:nvGrpSpPr>
        <p:grpSpPr>
          <a:xfrm>
            <a:off x="7314813" y="4668217"/>
            <a:ext cx="810765" cy="810765"/>
            <a:chOff x="0" y="0"/>
            <a:chExt cx="756793" cy="756793"/>
          </a:xfrm>
        </p:grpSpPr>
        <p:sp>
          <p:nvSpPr>
            <p:cNvPr id="252" name="Google Shape;252;p19"/>
            <p:cNvSpPr/>
            <p:nvPr/>
          </p:nvSpPr>
          <p:spPr>
            <a:xfrm>
              <a:off x="6350" y="6350"/>
              <a:ext cx="744093" cy="744093"/>
            </a:xfrm>
            <a:custGeom>
              <a:rect b="b" l="l" r="r" t="t"/>
              <a:pathLst>
                <a:path extrusionOk="0" h="744093" w="744093">
                  <a:moveTo>
                    <a:pt x="0" y="138938"/>
                  </a:moveTo>
                  <a:cubicBezTo>
                    <a:pt x="0" y="62230"/>
                    <a:pt x="62230" y="0"/>
                    <a:pt x="138938" y="0"/>
                  </a:cubicBezTo>
                  <a:lnTo>
                    <a:pt x="605155" y="0"/>
                  </a:lnTo>
                  <a:cubicBezTo>
                    <a:pt x="681990" y="0"/>
                    <a:pt x="744093" y="62230"/>
                    <a:pt x="744093" y="138938"/>
                  </a:cubicBezTo>
                  <a:lnTo>
                    <a:pt x="744093" y="605155"/>
                  </a:lnTo>
                  <a:cubicBezTo>
                    <a:pt x="744093" y="681863"/>
                    <a:pt x="681863" y="744093"/>
                    <a:pt x="605155" y="744093"/>
                  </a:cubicBezTo>
                  <a:lnTo>
                    <a:pt x="138938" y="744093"/>
                  </a:lnTo>
                  <a:cubicBezTo>
                    <a:pt x="62230" y="744093"/>
                    <a:pt x="0" y="681990"/>
                    <a:pt x="0" y="605155"/>
                  </a:cubicBez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0" y="0"/>
              <a:ext cx="756793" cy="756793"/>
            </a:xfrm>
            <a:custGeom>
              <a:rect b="b" l="l" r="r" t="t"/>
              <a:pathLst>
                <a:path extrusionOk="0" h="756793" w="756793">
                  <a:moveTo>
                    <a:pt x="0" y="145288"/>
                  </a:moveTo>
                  <a:cubicBezTo>
                    <a:pt x="0" y="65024"/>
                    <a:pt x="65024" y="0"/>
                    <a:pt x="145288" y="0"/>
                  </a:cubicBezTo>
                  <a:lnTo>
                    <a:pt x="611505" y="0"/>
                  </a:lnTo>
                  <a:lnTo>
                    <a:pt x="611505" y="6350"/>
                  </a:lnTo>
                  <a:lnTo>
                    <a:pt x="611505" y="0"/>
                  </a:lnTo>
                  <a:cubicBezTo>
                    <a:pt x="691769" y="0"/>
                    <a:pt x="756793" y="65024"/>
                    <a:pt x="756793" y="145288"/>
                  </a:cubicBezTo>
                  <a:lnTo>
                    <a:pt x="750443" y="145288"/>
                  </a:lnTo>
                  <a:lnTo>
                    <a:pt x="756793" y="145288"/>
                  </a:lnTo>
                  <a:lnTo>
                    <a:pt x="756793" y="611505"/>
                  </a:lnTo>
                  <a:lnTo>
                    <a:pt x="750443" y="611505"/>
                  </a:lnTo>
                  <a:lnTo>
                    <a:pt x="756793" y="611505"/>
                  </a:lnTo>
                  <a:cubicBezTo>
                    <a:pt x="756793" y="691769"/>
                    <a:pt x="691769" y="756793"/>
                    <a:pt x="611505" y="756793"/>
                  </a:cubicBezTo>
                  <a:lnTo>
                    <a:pt x="611505" y="750443"/>
                  </a:lnTo>
                  <a:lnTo>
                    <a:pt x="611505" y="756793"/>
                  </a:lnTo>
                  <a:lnTo>
                    <a:pt x="145288" y="756793"/>
                  </a:lnTo>
                  <a:lnTo>
                    <a:pt x="145288" y="750443"/>
                  </a:lnTo>
                  <a:lnTo>
                    <a:pt x="145288" y="756793"/>
                  </a:lnTo>
                  <a:cubicBezTo>
                    <a:pt x="65024" y="756793"/>
                    <a:pt x="0" y="691769"/>
                    <a:pt x="0" y="611505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611505"/>
                  </a:lnTo>
                  <a:lnTo>
                    <a:pt x="6350" y="611505"/>
                  </a:lnTo>
                  <a:lnTo>
                    <a:pt x="12700" y="611505"/>
                  </a:lnTo>
                  <a:cubicBezTo>
                    <a:pt x="12700" y="684784"/>
                    <a:pt x="72009" y="744093"/>
                    <a:pt x="145288" y="744093"/>
                  </a:cubicBezTo>
                  <a:lnTo>
                    <a:pt x="611505" y="744093"/>
                  </a:lnTo>
                  <a:cubicBezTo>
                    <a:pt x="684784" y="744093"/>
                    <a:pt x="744093" y="684784"/>
                    <a:pt x="744093" y="611505"/>
                  </a:cubicBezTo>
                  <a:lnTo>
                    <a:pt x="744093" y="145288"/>
                  </a:lnTo>
                  <a:cubicBezTo>
                    <a:pt x="744093" y="72009"/>
                    <a:pt x="684784" y="12700"/>
                    <a:pt x="611505" y="12700"/>
                  </a:cubicBezTo>
                  <a:lnTo>
                    <a:pt x="145288" y="12700"/>
                  </a:lnTo>
                  <a:lnTo>
                    <a:pt x="145288" y="6350"/>
                  </a:lnTo>
                  <a:lnTo>
                    <a:pt x="145288" y="12700"/>
                  </a:lnTo>
                  <a:cubicBezTo>
                    <a:pt x="72009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DDD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4" name="Google Shape;254;p19"/>
          <p:cNvSpPr txBox="1"/>
          <p:nvPr/>
        </p:nvSpPr>
        <p:spPr>
          <a:xfrm>
            <a:off x="7534186" y="4912742"/>
            <a:ext cx="372070" cy="41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4"/>
              <a:buFont typeface="Arial"/>
              <a:buNone/>
            </a:pPr>
            <a:r>
              <a:rPr b="0" i="0" lang="en-US" sz="2874" u="none" cap="none" strike="noStrike">
                <a:solidFill>
                  <a:srgbClr val="FFFE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" name="Google Shape;255;p19"/>
          <p:cNvGrpSpPr/>
          <p:nvPr/>
        </p:nvGrpSpPr>
        <p:grpSpPr>
          <a:xfrm>
            <a:off x="7314813" y="7039569"/>
            <a:ext cx="810765" cy="810765"/>
            <a:chOff x="0" y="0"/>
            <a:chExt cx="756793" cy="756793"/>
          </a:xfrm>
        </p:grpSpPr>
        <p:sp>
          <p:nvSpPr>
            <p:cNvPr id="256" name="Google Shape;256;p19"/>
            <p:cNvSpPr/>
            <p:nvPr/>
          </p:nvSpPr>
          <p:spPr>
            <a:xfrm>
              <a:off x="6350" y="6350"/>
              <a:ext cx="744093" cy="744093"/>
            </a:xfrm>
            <a:custGeom>
              <a:rect b="b" l="l" r="r" t="t"/>
              <a:pathLst>
                <a:path extrusionOk="0" h="744093" w="744093">
                  <a:moveTo>
                    <a:pt x="0" y="138938"/>
                  </a:moveTo>
                  <a:cubicBezTo>
                    <a:pt x="0" y="62230"/>
                    <a:pt x="62230" y="0"/>
                    <a:pt x="138938" y="0"/>
                  </a:cubicBezTo>
                  <a:lnTo>
                    <a:pt x="605155" y="0"/>
                  </a:lnTo>
                  <a:cubicBezTo>
                    <a:pt x="681990" y="0"/>
                    <a:pt x="744093" y="62230"/>
                    <a:pt x="744093" y="138938"/>
                  </a:cubicBezTo>
                  <a:lnTo>
                    <a:pt x="744093" y="605155"/>
                  </a:lnTo>
                  <a:cubicBezTo>
                    <a:pt x="744093" y="681863"/>
                    <a:pt x="681863" y="744093"/>
                    <a:pt x="605155" y="744093"/>
                  </a:cubicBezTo>
                  <a:lnTo>
                    <a:pt x="138938" y="744093"/>
                  </a:lnTo>
                  <a:cubicBezTo>
                    <a:pt x="62230" y="744093"/>
                    <a:pt x="0" y="681990"/>
                    <a:pt x="0" y="605155"/>
                  </a:cubicBez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0" y="0"/>
              <a:ext cx="756793" cy="756793"/>
            </a:xfrm>
            <a:custGeom>
              <a:rect b="b" l="l" r="r" t="t"/>
              <a:pathLst>
                <a:path extrusionOk="0" h="756793" w="756793">
                  <a:moveTo>
                    <a:pt x="0" y="145288"/>
                  </a:moveTo>
                  <a:cubicBezTo>
                    <a:pt x="0" y="65024"/>
                    <a:pt x="65024" y="0"/>
                    <a:pt x="145288" y="0"/>
                  </a:cubicBezTo>
                  <a:lnTo>
                    <a:pt x="611505" y="0"/>
                  </a:lnTo>
                  <a:lnTo>
                    <a:pt x="611505" y="6350"/>
                  </a:lnTo>
                  <a:lnTo>
                    <a:pt x="611505" y="0"/>
                  </a:lnTo>
                  <a:cubicBezTo>
                    <a:pt x="691769" y="0"/>
                    <a:pt x="756793" y="65024"/>
                    <a:pt x="756793" y="145288"/>
                  </a:cubicBezTo>
                  <a:lnTo>
                    <a:pt x="750443" y="145288"/>
                  </a:lnTo>
                  <a:lnTo>
                    <a:pt x="756793" y="145288"/>
                  </a:lnTo>
                  <a:lnTo>
                    <a:pt x="756793" y="611505"/>
                  </a:lnTo>
                  <a:lnTo>
                    <a:pt x="750443" y="611505"/>
                  </a:lnTo>
                  <a:lnTo>
                    <a:pt x="756793" y="611505"/>
                  </a:lnTo>
                  <a:cubicBezTo>
                    <a:pt x="756793" y="691769"/>
                    <a:pt x="691769" y="756793"/>
                    <a:pt x="611505" y="756793"/>
                  </a:cubicBezTo>
                  <a:lnTo>
                    <a:pt x="611505" y="750443"/>
                  </a:lnTo>
                  <a:lnTo>
                    <a:pt x="611505" y="756793"/>
                  </a:lnTo>
                  <a:lnTo>
                    <a:pt x="145288" y="756793"/>
                  </a:lnTo>
                  <a:lnTo>
                    <a:pt x="145288" y="750443"/>
                  </a:lnTo>
                  <a:lnTo>
                    <a:pt x="145288" y="756793"/>
                  </a:lnTo>
                  <a:cubicBezTo>
                    <a:pt x="65024" y="756793"/>
                    <a:pt x="0" y="691769"/>
                    <a:pt x="0" y="611505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611505"/>
                  </a:lnTo>
                  <a:lnTo>
                    <a:pt x="6350" y="611505"/>
                  </a:lnTo>
                  <a:lnTo>
                    <a:pt x="12700" y="611505"/>
                  </a:lnTo>
                  <a:cubicBezTo>
                    <a:pt x="12700" y="684784"/>
                    <a:pt x="72009" y="744093"/>
                    <a:pt x="145288" y="744093"/>
                  </a:cubicBezTo>
                  <a:lnTo>
                    <a:pt x="611505" y="744093"/>
                  </a:lnTo>
                  <a:cubicBezTo>
                    <a:pt x="684784" y="744093"/>
                    <a:pt x="744093" y="684784"/>
                    <a:pt x="744093" y="611505"/>
                  </a:cubicBezTo>
                  <a:lnTo>
                    <a:pt x="744093" y="145288"/>
                  </a:lnTo>
                  <a:cubicBezTo>
                    <a:pt x="744093" y="72009"/>
                    <a:pt x="684784" y="12700"/>
                    <a:pt x="611505" y="12700"/>
                  </a:cubicBezTo>
                  <a:lnTo>
                    <a:pt x="145288" y="12700"/>
                  </a:lnTo>
                  <a:lnTo>
                    <a:pt x="145288" y="6350"/>
                  </a:lnTo>
                  <a:lnTo>
                    <a:pt x="145288" y="12700"/>
                  </a:lnTo>
                  <a:cubicBezTo>
                    <a:pt x="72009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DDD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8" name="Google Shape;258;p19"/>
          <p:cNvSpPr txBox="1"/>
          <p:nvPr/>
        </p:nvSpPr>
        <p:spPr>
          <a:xfrm>
            <a:off x="7534186" y="7291014"/>
            <a:ext cx="372070" cy="41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4"/>
              <a:buFont typeface="Arial"/>
              <a:buNone/>
            </a:pPr>
            <a:r>
              <a:rPr b="0" i="0" lang="en-US" sz="2874" u="none" cap="none" strike="noStrike">
                <a:solidFill>
                  <a:srgbClr val="FDFDF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600" y="4094550"/>
            <a:ext cx="7072750" cy="426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688" l="0" r="0" t="-182688"/>
            </a:stretch>
          </a:blipFill>
          <a:ln>
            <a:noFill/>
          </a:ln>
        </p:spPr>
      </p:sp>
      <p:sp>
        <p:nvSpPr>
          <p:cNvPr id="265" name="Google Shape;265;p22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0" l="0" r="0" t="-159"/>
            </a:stretch>
          </a:blipFill>
          <a:ln>
            <a:noFill/>
          </a:ln>
        </p:spPr>
      </p:sp>
      <p:sp>
        <p:nvSpPr>
          <p:cNvPr id="266" name="Google Shape;266;p22"/>
          <p:cNvSpPr txBox="1"/>
          <p:nvPr/>
        </p:nvSpPr>
        <p:spPr>
          <a:xfrm>
            <a:off x="14615300" y="2075400"/>
            <a:ext cx="2418000" cy="39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 de Uso N°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59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Generando mapa de calor de zonas de entrega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194423" y="253875"/>
            <a:ext cx="164262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Vista de Proceso y seguimiento de Caso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625" y="2075399"/>
            <a:ext cx="13135599" cy="677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688" l="0" r="0" t="-182688"/>
            </a:stretch>
          </a:blipFill>
          <a:ln>
            <a:noFill/>
          </a:ln>
        </p:spPr>
      </p:sp>
      <p:sp>
        <p:nvSpPr>
          <p:cNvPr id="274" name="Google Shape;274;p10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0" l="0" r="0" t="-159"/>
            </a:stretch>
          </a:blipFill>
          <a:ln>
            <a:noFill/>
          </a:ln>
        </p:spPr>
      </p:sp>
      <p:sp>
        <p:nvSpPr>
          <p:cNvPr id="275" name="Google Shape;275;p10"/>
          <p:cNvSpPr txBox="1"/>
          <p:nvPr/>
        </p:nvSpPr>
        <p:spPr>
          <a:xfrm>
            <a:off x="755388" y="1467990"/>
            <a:ext cx="1656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2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8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194423" y="253875"/>
            <a:ext cx="164262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Vista de Proceso y seguimiento de Caso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15247675" y="3609000"/>
            <a:ext cx="3134400" cy="30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secuencia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N°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59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Generando mapa de calor de zonas de entrega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683408"/>
            <a:ext cx="14934951" cy="8316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0"/>
          <p:cNvSpPr txBox="1"/>
          <p:nvPr/>
        </p:nvSpPr>
        <p:spPr>
          <a:xfrm>
            <a:off x="430038" y="2005183"/>
            <a:ext cx="14880224" cy="1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4"/>
              <a:buFont typeface="Arial"/>
              <a:buNone/>
            </a:pPr>
            <a:r>
              <a:rPr b="0" i="0" lang="en-US" sz="314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Representa la organización jerárquica de las interfaces y funcionalidades, desde el inicio de sesión hasta módulos como Gestión de Usuarios, Inventario, Reportes y Alertas.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0" y="-232790"/>
            <a:ext cx="18287988" cy="1469367"/>
          </a:xfrm>
          <a:custGeom>
            <a:rect b="b" l="l" r="r" t="t"/>
            <a:pathLst>
              <a:path extrusionOk="0" h="1959156" w="24383984">
                <a:moveTo>
                  <a:pt x="0" y="0"/>
                </a:moveTo>
                <a:lnTo>
                  <a:pt x="24383984" y="0"/>
                </a:lnTo>
                <a:lnTo>
                  <a:pt x="24383984" y="1959156"/>
                </a:lnTo>
                <a:lnTo>
                  <a:pt x="0" y="19591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45823" l="0" r="0" t="-145827"/>
            </a:stretch>
          </a:blipFill>
          <a:ln>
            <a:noFill/>
          </a:ln>
        </p:spPr>
      </p:sp>
      <p:sp>
        <p:nvSpPr>
          <p:cNvPr id="285" name="Google Shape;285;p20"/>
          <p:cNvSpPr txBox="1"/>
          <p:nvPr/>
        </p:nvSpPr>
        <p:spPr>
          <a:xfrm>
            <a:off x="420513" y="278701"/>
            <a:ext cx="11608891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Árbol de Navegación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0" l="0" r="0" t="-159"/>
            </a:stretch>
          </a:blipFill>
          <a:ln>
            <a:noFill/>
          </a:ln>
        </p:spPr>
      </p:sp>
      <p:pic>
        <p:nvPicPr>
          <p:cNvPr id="287" name="Google Shape;28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4206580"/>
            <a:ext cx="17983201" cy="4627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688" l="0" r="0" t="-182688"/>
            </a:stretch>
          </a:blipFill>
          <a:ln>
            <a:noFill/>
          </a:ln>
        </p:spPr>
      </p:sp>
      <p:sp>
        <p:nvSpPr>
          <p:cNvPr id="293" name="Google Shape;293;p21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0" l="0" r="0" t="-159"/>
            </a:stretch>
          </a:blipFill>
          <a:ln>
            <a:noFill/>
          </a:ln>
        </p:spPr>
      </p:sp>
      <p:sp>
        <p:nvSpPr>
          <p:cNvPr id="294" name="Google Shape;294;p21"/>
          <p:cNvSpPr txBox="1"/>
          <p:nvPr/>
        </p:nvSpPr>
        <p:spPr>
          <a:xfrm>
            <a:off x="648215" y="253880"/>
            <a:ext cx="9099798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Revision del sprint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1028700" y="1440468"/>
            <a:ext cx="16021770" cy="1710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4"/>
              <a:buFont typeface="Arial"/>
              <a:buNone/>
            </a:pPr>
            <a:r>
              <a:rPr b="0" i="0" lang="en-US" sz="314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sprint final se centró en la consolidación y validación del sistema. Se utilizaron herramientas específicas para la documentación y se realizó un análisis comparativo entre las horas estimadas y las horas reales de trabajo, reflejando la eficiencia del equipo.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3075" y="3593330"/>
            <a:ext cx="3364725" cy="58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07775" y="4074275"/>
            <a:ext cx="7415125" cy="438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89030419a6_0_12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688" l="0" r="0" t="-182688"/>
            </a:stretch>
          </a:blipFill>
          <a:ln>
            <a:noFill/>
          </a:ln>
        </p:spPr>
      </p:sp>
      <p:sp>
        <p:nvSpPr>
          <p:cNvPr id="303" name="Google Shape;303;g389030419a6_0_12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57" l="0" r="0" t="-158"/>
            </a:stretch>
          </a:blipFill>
          <a:ln>
            <a:noFill/>
          </a:ln>
        </p:spPr>
      </p:sp>
      <p:sp>
        <p:nvSpPr>
          <p:cNvPr id="304" name="Google Shape;304;g389030419a6_0_12"/>
          <p:cNvSpPr txBox="1"/>
          <p:nvPr/>
        </p:nvSpPr>
        <p:spPr>
          <a:xfrm>
            <a:off x="378182" y="257369"/>
            <a:ext cx="3803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Bibliografía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89030419a6_0_12"/>
          <p:cNvSpPr txBox="1"/>
          <p:nvPr/>
        </p:nvSpPr>
        <p:spPr>
          <a:xfrm>
            <a:off x="0" y="2237454"/>
            <a:ext cx="18288000" cy="3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6467" lvl="1" marL="392939" marR="0" rtl="0" algn="l">
              <a:lnSpc>
                <a:spcPct val="156978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20"/>
              <a:buFont typeface="Inter"/>
              <a:buAutoNum type="arabicPeriod"/>
            </a:pPr>
            <a:r>
              <a:rPr b="1" i="0" lang="en-US" sz="1820" u="sng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Pichler, R. (2019). Agile Product Management with Scrum: Creating Products That Customers Love. Addison-Wesley Professional.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467" lvl="1" marL="392939" marR="0" rtl="0" algn="l">
              <a:lnSpc>
                <a:spcPct val="156978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20"/>
              <a:buFont typeface="Inter"/>
              <a:buAutoNum type="arabicPeriod"/>
            </a:pPr>
            <a:r>
              <a:rPr b="1" i="0" lang="en-US" sz="1820" u="sng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Pressman, R. S., &amp; Maxim, B. R. (2021). Ingeniería de software: Un enfoque práctico (9.ª ed.). McGraw-Hill.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467" lvl="1" marL="392939" marR="0" rtl="0" algn="l">
              <a:lnSpc>
                <a:spcPct val="156978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20"/>
              <a:buFont typeface="Inter"/>
              <a:buAutoNum type="arabicPeriod"/>
            </a:pPr>
            <a:r>
              <a:rPr b="1" i="0" lang="en-US" sz="1820" u="sng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Schwaber, K., &amp; Sutherland, J. (2020). The Scrum Guide: The Definitive Guide to Scrum: The Rules of the Game. Scrum.org. https://scrumguides.org/scrum-guide.html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467" lvl="1" marL="392939" marR="0" rtl="0" algn="l">
              <a:lnSpc>
                <a:spcPct val="156978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20"/>
              <a:buFont typeface="Inter"/>
              <a:buAutoNum type="arabicPeriod"/>
            </a:pPr>
            <a:r>
              <a:rPr b="1" i="0" lang="en-US" sz="1820" u="sng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Sommerville, I. (2016). Ingeniería del software (10.ª ed.). Pearson Educación.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467" lvl="1" marL="392939" marR="0" rtl="0" algn="l">
              <a:lnSpc>
                <a:spcPct val="156978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20"/>
              <a:buFont typeface="Inter"/>
              <a:buAutoNum type="arabicPeriod"/>
            </a:pPr>
            <a:r>
              <a:rPr b="1" i="0" lang="en-US" sz="1820" u="sng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Universidad Andrés Bello. (2025). Guía metodológica para el desarrollo de proyectos con Scrum++ [Material docente no publicado]. Facultad de Ingeniería, Universidad Andrés Bello.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123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Arial"/>
              <a:buNone/>
            </a:pPr>
            <a:r>
              <a:t/>
            </a:r>
            <a:endParaRPr b="1" i="0" sz="1820" u="sng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